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9550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566160"/>
            <a:ext cx="9144000" cy="157734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06040"/>
            <a:ext cx="9144000" cy="64008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DIRECTORATE OF ONLINE EDUCATION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 INSTITUTE OF SCIENCE AND TECHNOLOGY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KATTANKULATHUR – 603 203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— PROJECT VIVA VOCE  |  MAY 2026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800" dirty="0"/>
          </a:p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54096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4015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EA2432251010614 ]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94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  |  Assistant Professor, Directorate of Online Education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OF PROJECT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127000" dist="508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005840"/>
            <a:ext cx="6949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097280" y="30175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GUIDE :  Dr. G. Babu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401568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Directorate of Online Education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822960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7824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develops an intelligent, cloud-enabled Geo-AI analytics framework for environmental monitoring, vegetation assessment, and spatial risk prediction using Machine Learning and GIS technologies.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572768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72768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27632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integrates satellite imagery (Sentinel-2, Landsat-8), OpenStreetMap vectors, Digital Elevation Models and ISRO-IIRS datasets to create a unified analytics platform.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2322576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22576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7744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spatial features extracted include NDVI, Land Surface Temperature (LST), elevation, rainfall, and land use/cover data for supervised ML tasks.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072384"/>
            <a:ext cx="8503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072384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27248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 employed — Random Forest, Gradient Boosting, SVM, Decision Trees and CNNs — are trained to detect deforestation, urban expansion, vegetation stress and high-risk ecological zones.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0040" y="3822192"/>
            <a:ext cx="8503920" cy="640080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822192"/>
            <a:ext cx="54864" cy="64008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77056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deployed as a Flask + Streamlit cloud web application with JWT authentication, interactive Leaflet.js maps and Chart.js dashboards for real-time environmental decision support.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3931920"/>
          </a:xfrm>
          <a:prstGeom prst="rect">
            <a:avLst/>
          </a:prstGeom>
          <a:solidFill>
            <a:srgbClr val="F0F7FF"/>
          </a:solidFill>
          <a:ln w="19050">
            <a:solidFill>
              <a:srgbClr val="D0E8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170432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analysis is critical for environmental monitoring, disaster management and climate analysis.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rely on manual interpretation and static mapping — lacking intelligent prediction.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ML enable automatic pattern detection from large spatial datasets.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satellite data availability demands scalable, automated analytics platforms.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3931920"/>
          </a:xfrm>
          <a:prstGeom prst="rect">
            <a:avLst/>
          </a:prstGeom>
          <a:solidFill>
            <a:srgbClr val="E8F9F4"/>
          </a:solidFill>
          <a:ln w="19050">
            <a:solidFill>
              <a:srgbClr val="B2E8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84124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170432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 Analytics Dashboard integrating ML + GIS for environmental risk zone prediction.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upload CSV geospatial datasets and obtain predictions via interactive charts &amp; maps.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inspired by ISRO-IIRS advanced space research &amp; geospatial intelligence systems.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Cloud-based, secure, scalable and user-friendly web interface.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1133856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887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Develop a system for analyzing geospatial data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645920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0078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Apply ML techniques for environmental prediction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2157984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128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Automate data preprocessing and feature engineering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670048"/>
            <a:ext cx="50292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72491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Provide a user-friendly interactive web interface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3182112"/>
            <a:ext cx="5029200" cy="438912"/>
          </a:xfrm>
          <a:prstGeom prst="rect">
            <a:avLst/>
          </a:prstGeom>
          <a:solidFill>
            <a:srgbClr val="F0F7FF"/>
          </a:solidFill>
          <a:ln w="1270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Generate accurate and meaningful geospatial results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23560" y="804672"/>
            <a:ext cx="3246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115214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2356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CSV geospatial datasets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23560" y="1682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classification &amp; prediction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23560" y="19751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visualization of results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226771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Agriculture, environment, climate studies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23560" y="26334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170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23560" y="287121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satellite data processing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623560" y="3163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GIS software integration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 &amp; PROBLEM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961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Intelligent Prediction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52144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GIS platforms focus on visualization/mapping only — no ML-based predictive environmental analysis.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2494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Scalability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" y="2505456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efficiently handle large satellite imagery, raster datasets and high-dimensional spatial information.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6027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Interactive Visualization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3858768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lack dynamic dashboards and real-time mapping features for effective spatial trend interpretation.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822960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822960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89611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ML-GIS Integration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1152144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fail to combine spatial analytics with ML models to detect hidden environmental patterns.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2176272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176272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22494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Error-Prone Process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18888" y="2505456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manual intervention required for detecting changes like deforestation, urban expansion and climate risks.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3529584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529584"/>
            <a:ext cx="54864" cy="118872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6027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Decision Support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18888" y="3858768"/>
            <a:ext cx="397764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generate real-time predictions needed for disaster management, agriculture and climate monitoring.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0" y="2103120"/>
            <a:ext cx="3291840" cy="914400"/>
          </a:xfrm>
          <a:prstGeom prst="rect">
            <a:avLst/>
          </a:prstGeom>
          <a:solidFill>
            <a:srgbClr val="001F54"/>
          </a:solidFill>
          <a:ln w="25400">
            <a:solidFill>
              <a:srgbClr val="00AA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09369" y="2103120"/>
            <a:ext cx="15357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</a:t>
            </a: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Algorithms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Gradient Boosting · SVM · CNN · Decision Trees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0" y="804672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38928" y="868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38928" y="1133856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· Landsat-8 · OpenStreetMap · DEM · ISRO-IIRS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Georeferencing · Cloud masking · Normalization · NDVI · LST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205740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29200" y="205740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38928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38928" y="238658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maps · Chart.js · Interactive dashboards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Streamlit · JWT Auth · REST API · Cloud-based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0" y="3291840"/>
            <a:ext cx="3840480" cy="1005840"/>
          </a:xfrm>
          <a:prstGeom prst="rect">
            <a:avLst/>
          </a:prstGeom>
          <a:solidFill>
            <a:srgbClr val="F0F7FF"/>
          </a:solidFill>
          <a:ln w="19050">
            <a:solidFill>
              <a:srgbClr val="B0D0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0" y="3291840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38928" y="335584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38928" y="3621024"/>
            <a:ext cx="365760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Agriculture · Disaster Mgmt · Climate Monitoring · Urban Planning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Requirements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33856"/>
          <a:ext cx="3931920" cy="182880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Processor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Intel i3 or above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RAM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Minimum 4 GB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Storage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20 GB Free Space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Internet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A1628"/>
                          </a:solidFill>
                        </a:rPr>
                        <a:t>Required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6"/>
          <p:cNvSpPr/>
          <p:nvPr/>
        </p:nvSpPr>
        <p:spPr>
          <a:xfrm>
            <a:off x="4754880" y="804672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33856"/>
          <a:ext cx="4114800" cy="3108960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Specification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Language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Python 3.x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IDE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Visual Studio Code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ML Libraries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Scikit-learn, TensorFlow/Keras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Web Framework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Flask, Streamlit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Frontend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HTML, CSS, JavaScript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Mapping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Leaflet.js, Chart.js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 Handling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Pandas, NumPy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54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A1628"/>
                          </a:solidFill>
                        </a:rPr>
                        <a:t>JSON-based persistence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3127248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Requirements: User Registration &amp; Login · CSV Dataset Upload · Environmental Risk Prediction · Data Visualization · Geospatial Map View · Admin Dashboard · JWT Authentication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5720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4672" y="896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 Module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1188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CSV datasets · Validates format &amp; structure · Verifies latitude, longitude, rainfall, temperature, vegetation index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45720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04672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239512" y="8961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Module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39512" y="1188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missing values · Normalization &amp; scaling · Feature extraction · Generates NDVI &amp; other indices · Train/test split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45720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21992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04672" y="2313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Module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4672" y="2606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· Decision Tree · Gradient Boosting · SVM · CNN · Evaluates with Accuracy, F1-Score, RMSE, Confusion Matrix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21992"/>
            <a:ext cx="45720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221992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239512" y="23134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Module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39512" y="260604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new input data · Applies trained models · Predicts risk levels · Identifies vegetation stress zones · Real-time output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39312"/>
            <a:ext cx="45720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39312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04672" y="3730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Module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04672" y="4023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Leaflet.js maps · Chart.js graphs · Spatial risk mapping · Statistical reports &amp; analytical summaries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39312"/>
            <a:ext cx="45720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39312"/>
            <a:ext cx="457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5239512" y="37307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Module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239512" y="402336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web dashboard · Secure JWT login · Dataset upload · Real-time results display · Admin panel management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786384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1188720"/>
            <a:ext cx="5029200" cy="3474720"/>
          </a:xfrm>
          <a:prstGeom prst="rect">
            <a:avLst/>
          </a:prstGeom>
          <a:solidFill>
            <a:srgbClr val="F0F7FF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2070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 Analytics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017520" y="1536192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5361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017520" y="1874520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874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2212848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221284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Dataset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017520" y="2551176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25511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Datasets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17520" y="2889504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8895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Prediction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3227832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32278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017520" y="3566160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566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Reports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017520" y="3904488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39044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Reports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17520" y="4242816"/>
            <a:ext cx="3566160" cy="274320"/>
          </a:xfrm>
          <a:prstGeom prst="ellipse">
            <a:avLst/>
          </a:prstGeom>
          <a:solidFill>
            <a:srgbClr val="E0F0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424281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1322728"/>
            <a:ext cx="457200" cy="365760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9882" y="1688488"/>
            <a:ext cx="0" cy="36576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0681" y="1837944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3217" y="2066020"/>
            <a:ext cx="182880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882" y="2046365"/>
            <a:ext cx="182880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680" y="1837944"/>
            <a:ext cx="14173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259303"/>
            <a:ext cx="1005840" cy="2591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1282" y="2493160"/>
            <a:ext cx="457200" cy="365760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84072" y="2814355"/>
            <a:ext cx="0" cy="36576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1192" y="3026664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5333" y="3221368"/>
            <a:ext cx="182880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9837" y="3169815"/>
            <a:ext cx="182880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68680" y="3036334"/>
            <a:ext cx="14173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445502"/>
            <a:ext cx="1005840" cy="2303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3787506"/>
            <a:ext cx="457200" cy="327293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" y="4114800"/>
            <a:ext cx="0" cy="36576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5800" y="4261104"/>
            <a:ext cx="365760" cy="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" y="4480560"/>
            <a:ext cx="182880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8680" y="4480560"/>
            <a:ext cx="182880" cy="182880"/>
          </a:xfrm>
          <a:prstGeom prst="line">
            <a:avLst/>
          </a:prstGeom>
          <a:noFill/>
          <a:ln w="19050">
            <a:solidFill>
              <a:srgbClr val="001F5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4242816"/>
            <a:ext cx="14173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4663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772400" y="2560320"/>
            <a:ext cx="914400" cy="365760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772400" y="2743200"/>
            <a:ext cx="914400" cy="73152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772400" y="3291840"/>
            <a:ext cx="914400" cy="274320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498080" y="36576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40880" y="2926080"/>
            <a:ext cx="731520" cy="0"/>
          </a:xfrm>
          <a:prstGeom prst="line">
            <a:avLst/>
          </a:prstGeom>
          <a:noFill/>
          <a:ln w="9525">
            <a:solidFill>
              <a:srgbClr val="64748B"/>
            </a:solidFill>
            <a:prstDash val="dash"/>
          </a:ln>
        </p:spPr>
      </p:sp>
      <p:sp>
        <p:nvSpPr>
          <p:cNvPr id="54" name="Text 5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1828800" cy="64008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Admin Login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1143000"/>
            <a:ext cx="256032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822960"/>
            <a:ext cx="1828800" cy="640080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42032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Credentials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70832" y="1143000"/>
            <a:ext cx="256032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822960"/>
            <a:ext cx="18288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26864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Dataset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55664" y="1143000"/>
            <a:ext cx="256032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11696" y="822960"/>
            <a:ext cx="1828800" cy="640080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11696" y="822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626096" y="1463040"/>
            <a:ext cx="0" cy="137160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34640"/>
            <a:ext cx="1828800" cy="640080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Load ML Model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0" y="3154680"/>
            <a:ext cx="256032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42032" y="2834640"/>
            <a:ext cx="1828800" cy="640080"/>
          </a:xfrm>
          <a:prstGeom prst="rect">
            <a:avLst/>
          </a:prstGeom>
          <a:solidFill>
            <a:srgbClr val="1AABB5"/>
          </a:solidFill>
          <a:ln w="12700">
            <a:solidFill>
              <a:srgbClr val="1AABB5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42032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Environmental Predictions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3154680"/>
            <a:ext cx="256032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26864" y="2834640"/>
            <a:ext cx="1828800" cy="640080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26864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Results (Charts + Maps)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55664" y="3154680"/>
            <a:ext cx="256032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11696" y="2834640"/>
            <a:ext cx="1828800" cy="640080"/>
          </a:xfrm>
          <a:prstGeom prst="rect">
            <a:avLst/>
          </a:prstGeom>
          <a:solidFill>
            <a:srgbClr val="00916E"/>
          </a:solidFill>
          <a:ln w="12700">
            <a:solidFill>
              <a:srgbClr val="00916E"/>
            </a:solidFill>
            <a:prstDash val="solid"/>
          </a:ln>
          <a:effectLst>
            <a:outerShdw blurRad="635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11696" y="2834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/ Export Reports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810512" y="3991356"/>
            <a:ext cx="2560320" cy="658368"/>
          </a:xfrm>
          <a:prstGeom prst="rect">
            <a:avLst/>
          </a:prstGeom>
          <a:solidFill>
            <a:srgbClr val="FFF0D0"/>
          </a:solidFill>
          <a:ln w="19050">
            <a:solidFill>
              <a:srgbClr val="E170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10512" y="3986784"/>
            <a:ext cx="2560320" cy="6629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User? → YES → continue  |  NO → Access Denied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 (DFD)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786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0 — Context Diagram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109728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972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1325880"/>
            <a:ext cx="64008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194560"/>
            <a:ext cx="109728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1945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2423160"/>
            <a:ext cx="64008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200400"/>
            <a:ext cx="109728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2004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371600" y="3429000"/>
            <a:ext cx="64008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37360" y="1463040"/>
            <a:ext cx="2194560" cy="1828800"/>
          </a:xfrm>
          <a:prstGeom prst="ellipse">
            <a:avLst/>
          </a:prstGeom>
          <a:solidFill>
            <a:srgbClr val="003D99"/>
          </a:solidFill>
          <a:ln w="25400">
            <a:solidFill>
              <a:srgbClr val="00AA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146304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31920" y="1600200"/>
            <a:ext cx="54864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371600"/>
            <a:ext cx="1828800" cy="4572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3716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Results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931920" y="2514600"/>
            <a:ext cx="548640" cy="0"/>
          </a:xfrm>
          <a:prstGeom prst="line">
            <a:avLst/>
          </a:prstGeom>
          <a:noFill/>
          <a:ln w="19050">
            <a:solidFill>
              <a:srgbClr val="00AA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0560" y="2286000"/>
            <a:ext cx="1828800" cy="457200"/>
          </a:xfrm>
          <a:prstGeom prst="rect">
            <a:avLst/>
          </a:prstGeom>
          <a:solidFill>
            <a:srgbClr val="E8F4FD"/>
          </a:solidFill>
          <a:ln w="19050">
            <a:solidFill>
              <a:srgbClr val="00AA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0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Visualizations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54880" y="78638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DFD Level 1 — Subsystems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0" y="1097280"/>
            <a:ext cx="1371600" cy="731520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0972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User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0" y="2011680"/>
            <a:ext cx="1371600" cy="731520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583680" y="2011680"/>
            <a:ext cx="1371600" cy="731520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20116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 Prediction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583680" y="2926080"/>
            <a:ext cx="1371600" cy="731520"/>
          </a:xfrm>
          <a:prstGeom prst="ellipse">
            <a:avLst/>
          </a:prstGeom>
          <a:solidFill>
            <a:srgbClr val="003D99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292608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 Visualization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0" y="3108960"/>
            <a:ext cx="118872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108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Users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583680" y="1097280"/>
            <a:ext cx="118872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83680" y="10972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 Datasets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55280" y="2560320"/>
            <a:ext cx="1188720" cy="457200"/>
          </a:xfrm>
          <a:prstGeom prst="rect">
            <a:avLst/>
          </a:prstGeom>
          <a:solidFill>
            <a:srgbClr val="E8F4FD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955280" y="25603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Predictions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0" y="751700"/>
            <a:ext cx="2743200" cy="1644028"/>
          </a:xfrm>
          <a:prstGeom prst="rect">
            <a:avLst/>
          </a:prstGeom>
          <a:solidFill>
            <a:srgbClr val="FFFFFF"/>
          </a:solidFill>
          <a:ln w="19050">
            <a:solidFill>
              <a:srgbClr val="B0C8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0" y="751700"/>
            <a:ext cx="2743200" cy="34747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80467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73552" y="1152144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user_id : int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73552" y="135331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name : string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73552" y="1554480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: string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73552" y="1755648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 : string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0" y="1956816"/>
            <a:ext cx="2743200" cy="0"/>
          </a:xfrm>
          <a:prstGeom prst="line">
            <a:avLst/>
          </a:prstGeom>
          <a:noFill/>
          <a:ln w="9525">
            <a:solidFill>
              <a:srgbClr val="B0C8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73552" y="199339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login() : bool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73552" y="2194560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logout() : void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92608" y="2714329"/>
            <a:ext cx="2286000" cy="1078185"/>
          </a:xfrm>
          <a:prstGeom prst="rect">
            <a:avLst/>
          </a:prstGeom>
          <a:solidFill>
            <a:srgbClr val="FFFFFF"/>
          </a:solidFill>
          <a:ln w="19050">
            <a:solidFill>
              <a:srgbClr val="B0C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" y="2719342"/>
            <a:ext cx="2286000" cy="347472"/>
          </a:xfrm>
          <a:prstGeom prst="rect">
            <a:avLst/>
          </a:prstGeom>
          <a:solidFill>
            <a:srgbClr val="003D99"/>
          </a:solidFill>
          <a:ln w="12700">
            <a:solidFill>
              <a:srgbClr val="003D9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Text 17"/>
          <p:cNvSpPr/>
          <p:nvPr/>
        </p:nvSpPr>
        <p:spPr>
          <a:xfrm>
            <a:off x="320040" y="23317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" y="3118630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admin_id : int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1752" y="3357214"/>
            <a:ext cx="2286000" cy="0"/>
          </a:xfrm>
          <a:prstGeom prst="line">
            <a:avLst/>
          </a:prstGeom>
          <a:noFill/>
          <a:ln w="9525">
            <a:solidFill>
              <a:srgbClr val="B0C8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" y="3357214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manageUsers() : void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47472" y="3538728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viewReports() : void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614475" y="2752343"/>
            <a:ext cx="2286000" cy="1037619"/>
          </a:xfrm>
          <a:prstGeom prst="rect">
            <a:avLst/>
          </a:prstGeom>
          <a:solidFill>
            <a:srgbClr val="FFFFFF"/>
          </a:solidFill>
          <a:ln w="19050">
            <a:solidFill>
              <a:srgbClr val="B0C8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14475" y="2762552"/>
            <a:ext cx="228600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2331719"/>
            <a:ext cx="2194560" cy="43083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RegularUser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56832" y="313166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user_type : string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6592824" y="3368303"/>
            <a:ext cx="2286000" cy="0"/>
          </a:xfrm>
          <a:prstGeom prst="line">
            <a:avLst/>
          </a:prstGeom>
          <a:noFill/>
          <a:ln w="9525">
            <a:solidFill>
              <a:srgbClr val="B0C8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47688" y="3368303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uploadDataset() : void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647688" y="3528368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runPrediction() : void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3847378"/>
            <a:ext cx="22860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0C8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847378"/>
            <a:ext cx="2286000" cy="347472"/>
          </a:xfrm>
          <a:prstGeom prst="rect">
            <a:avLst/>
          </a:prstGeom>
          <a:solidFill>
            <a:srgbClr val="0D7A9E"/>
          </a:solidFill>
          <a:ln w="12700">
            <a:solidFill>
              <a:srgbClr val="0D7A9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427939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dataset_id : int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47472" y="4480560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file_name : string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4681728"/>
            <a:ext cx="2286000" cy="0"/>
          </a:xfrm>
          <a:prstGeom prst="line">
            <a:avLst/>
          </a:prstGeom>
          <a:noFill/>
          <a:ln w="9525">
            <a:solidFill>
              <a:srgbClr val="B0C8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718304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upload() : void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47472" y="49194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delete() : void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438144" y="3407664"/>
            <a:ext cx="2286000" cy="1097280"/>
          </a:xfrm>
          <a:prstGeom prst="rect">
            <a:avLst/>
          </a:prstGeom>
          <a:solidFill>
            <a:srgbClr val="FFFFFF"/>
          </a:solidFill>
          <a:ln w="19050">
            <a:solidFill>
              <a:srgbClr val="B0C8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429000" y="3398625"/>
            <a:ext cx="2286000" cy="347472"/>
          </a:xfrm>
          <a:prstGeom prst="rect">
            <a:avLst/>
          </a:prstGeom>
          <a:solidFill>
            <a:srgbClr val="189AB4"/>
          </a:solidFill>
          <a:ln w="12700">
            <a:solidFill>
              <a:srgbClr val="189AB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74720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419856" y="375361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prediction_id : int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438144" y="3878580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result : string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392424" y="4070578"/>
            <a:ext cx="2286000" cy="0"/>
          </a:xfrm>
          <a:prstGeom prst="line">
            <a:avLst/>
          </a:prstGeom>
          <a:noFill/>
          <a:ln w="9525">
            <a:solidFill>
              <a:srgbClr val="B0C8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38144" y="4055443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run() : void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502152" y="491947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getResult() : string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574536" y="3859981"/>
            <a:ext cx="2286000" cy="1068635"/>
          </a:xfrm>
          <a:prstGeom prst="rect">
            <a:avLst/>
          </a:prstGeom>
          <a:solidFill>
            <a:srgbClr val="FFFFFF"/>
          </a:solidFill>
          <a:ln w="19050">
            <a:solidFill>
              <a:srgbClr val="B0C8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8" name="Shape 46"/>
          <p:cNvSpPr/>
          <p:nvPr/>
        </p:nvSpPr>
        <p:spPr>
          <a:xfrm>
            <a:off x="6583680" y="3847378"/>
            <a:ext cx="2286000" cy="347472"/>
          </a:xfrm>
          <a:prstGeom prst="rect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39319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20256" y="4206237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</a:t>
            </a:r>
            <a:r>
              <a:rPr lang="en-US" sz="850" dirty="0" err="1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repotr_id</a:t>
            </a: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int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601968" y="4407405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file_path : string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565392" y="4608573"/>
            <a:ext cx="2286000" cy="0"/>
          </a:xfrm>
          <a:prstGeom prst="line">
            <a:avLst/>
          </a:prstGeom>
          <a:noFill/>
          <a:ln w="9525">
            <a:solidFill>
              <a:srgbClr val="B0C8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638544" y="4603564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generate() : void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620256" y="475053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3D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download() : void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 flipV="1">
            <a:off x="1796796" y="2487721"/>
            <a:ext cx="3154680" cy="6069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795218" y="2493790"/>
            <a:ext cx="1577" cy="225552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862611" y="2493790"/>
            <a:ext cx="3200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063011" y="2493790"/>
            <a:ext cx="0" cy="246888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METHODOLOGY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83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Preparation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4183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geospatial data with latitude, longitude, rainfall, temperature, vegetation index and label columns.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0467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76672" y="89611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376672" y="118872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null values → select features → normalize → encode categoricals → generate NDVI → train/test split.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4183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 Training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183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 trained using Scikit-learn; model saved as geo_model.pkl via joblib.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22199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222199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76672" y="231343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API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376672" y="2606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endpoints: /register, /login (JWT), /predict (file upload + ML inference), /history, /admin.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4183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Interface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4183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 dashboard with file upload, prediction output panel, Chart.js bar chart and Leaflet.js map view.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09160" y="3639312"/>
            <a:ext cx="4114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3639312"/>
            <a:ext cx="594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5376672" y="3730752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Testing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376672" y="402336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→ Backend → Preprocessing → ML Model → Output. Unit, Integration, System &amp; UAT testing performed.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13385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function &amp; ML model prediction tested independently for correctness.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0467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87782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18888" y="113385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Flask API + ML model pipeline tested end-to-end with CSV input.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23113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workflow: Upload file → Preprocess → Predict → Visualize — tested as complete system.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901952"/>
            <a:ext cx="4114800" cy="1005840"/>
          </a:xfrm>
          <a:prstGeom prst="rect">
            <a:avLst/>
          </a:prstGeom>
          <a:solidFill>
            <a:srgbClr val="FFFFFF"/>
          </a:solidFill>
          <a:ln w="19050">
            <a:solidFill>
              <a:srgbClr val="D0E8FF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901952"/>
            <a:ext cx="54864" cy="1005840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97510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18888" y="2231136"/>
            <a:ext cx="39319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usability, responsive dashboard and prediction history verified from user perspective.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090672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1F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</a:t>
            </a:r>
            <a:endParaRPr lang="en-US" sz="1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83280"/>
          <a:ext cx="8595360" cy="13716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Test ID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F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TC01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Valid CSV file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Predictions generated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TC02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Missing values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Handled properly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TC03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Invalid format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Error message shown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TC04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Large dataset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Processed successfully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894"/>
                          </a:solidFill>
                        </a:rPr>
                        <a:t>✓ Pass</a:t>
                      </a:r>
                      <a:endParaRPr lang="en-US" sz="1000" dirty="0"/>
                    </a:p>
                  </a:txBody>
                  <a:tcPr>
                    <a:lnL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E0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LOGIN PAGE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Page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login with username/password, toggle eye visibility. Clean gradient UI.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80467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0467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8229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REGISTER PAGE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46320" y="1124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42646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 registration form with back-to-login navigation.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HOME / UPLOAD DATASET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1148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/ Upload Dataset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1148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with CSV file upload, Predict / History / Admin / Logout buttons.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2724912"/>
            <a:ext cx="416052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00AAFF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2724912"/>
            <a:ext cx="4160520" cy="2286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 DATA VISUALIZATION &amp; MAP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30449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3346704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 panel, Chart.js bar chart (Safe vs Risk) and live Leaflet.js geospatial map view.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841248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84124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77824" y="859536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developed an end-to-end Geospatial ML System for environmental risk zone prediction using latitude, longitude, rainfall, temperature and vegetation index.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91056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" y="1627632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6276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7824" y="1645920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of web-based interface with ML backend enables seamless dataset upload, real-time prediction and interactive chart &amp; map visualization.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2414016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4140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77824" y="2432304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RESTful architecture ensures scalability, flexibility and efficient data flow; JWT authentication provides secure multi-user access.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" y="3163824"/>
            <a:ext cx="8503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" y="3200400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2004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7824" y="3218688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test cases passed. Model achieves 85% accuracy on the baseline dataset, demonstrating the viability of ML for geospatial analytics.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950208"/>
            <a:ext cx="850392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C8DF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048" y="3986784"/>
            <a:ext cx="402336" cy="402336"/>
          </a:xfrm>
          <a:prstGeom prst="ellipse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98678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7824" y="4005072"/>
            <a:ext cx="7818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establishes a strong foundation for geospatial intelligence systems supporting disaster management, agriculture, environmental monitoring and urban planning.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Advanced ML Models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XGBoost, deep learning architectures; train on large-scale real-world geospatial datasets with hyperparameter tuning.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Full GIS Integration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QGIS/ArcGIS; support raster &amp; vector data processing; apply spatial clustering (DBSCAN, K-Means) for hotspot detection.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80467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0467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80467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Real-Time Data Feeds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130759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APIs for weather data, satellite imagery and IoT environmental sensor streams.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Explainable AI (XAI)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SHAP for feature importance analysis; provide model interpretability dashboards for transparent decision-making.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Scalable Cloud 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microservices with Docker containerization; deploy on AWS / Azure / IBM Cloud for enterprise-grade scalability.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26480" y="2816352"/>
            <a:ext cx="27432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FF5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816352"/>
            <a:ext cx="2743200" cy="4572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81635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Security &amp; Governance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319272"/>
            <a:ext cx="2560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(RBAC); strong password hashing; data encryption and privacy compliance standards.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54864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56048"/>
            <a:ext cx="9144000" cy="187452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560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0AAFF"/>
                </a:solidFill>
              </a:rPr>
              <a:t>GEOSPATIAL DATA ANALYSIS USING MACHINE LEARNING  |  SRM Institute of Science and Technology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Scikit-learn Documentation – https://scikit-learn.org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Flask Documentation – https://flask.palletsprojects.com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Pandas Documentation – https://pandas.pydata.org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Leaflet Documentation – https://leafletjs.com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Chart.js Documentation – https://www.chartjs.org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Kaggle – Datasets and ML Resources – https://www.kaggle.com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426110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ISRO – Remote Sensing &amp; GIS Resources – https://www.isro.gov.in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477316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80467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IIRS – Online Courses on Remote Sensing &amp; GIS – https://www.iirs.gov.in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54880" y="131673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380744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Waldo Tobler (1970). A Computer Movie Simulating Urban Growth in the Detroit Region.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56816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Michael F. Goodchild (2007). Citizens as Sensors: The World of Volunteered Geography.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2468880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32888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Geospatial ML literature – Research journals &amp; conference papers on spatial data analysis and predictive modelling.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3044952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08960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TensorFlow/Keras Documentation – https://www.tensorflow.org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621024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685032"/>
            <a:ext cx="41605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HTML5 / JavaScript – Web Standards – https://developer.mozilla.org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4197096"/>
            <a:ext cx="4160520" cy="0"/>
          </a:xfrm>
          <a:prstGeom prst="line">
            <a:avLst/>
          </a:prstGeom>
          <a:noFill/>
          <a:ln w="6350">
            <a:solidFill>
              <a:srgbClr val="D0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F54"/>
          </a:solidFill>
          <a:ln w="12700">
            <a:solidFill>
              <a:srgbClr val="001F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77440"/>
            <a:ext cx="9144000" cy="73152"/>
          </a:xfrm>
          <a:prstGeom prst="rect">
            <a:avLst/>
          </a:prstGeom>
          <a:solidFill>
            <a:srgbClr val="00AAFF"/>
          </a:solidFill>
          <a:ln w="12700">
            <a:solidFill>
              <a:srgbClr val="00AA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01240"/>
          </a:solidFill>
          <a:ln w="12700">
            <a:solidFill>
              <a:srgbClr val="0012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AA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Data Analysis Using Machine Learning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SAKSHI SRIVASTAVA  |  EA2432251010614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MCA IV Semester  |  SRM Institute of Science and Technology  |  May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G. Babu  |  Directorate of Online Education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0" y="480060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Slide - 20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2263</Words>
  <Application>Microsoft Office PowerPoint</Application>
  <PresentationFormat>On-screen Show (16:9)</PresentationFormat>
  <Paragraphs>371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Geospatial Data Analysis Using Machine Learning</dc:title>
  <dc:subject>PptxGenJS Presentation</dc:subject>
  <dc:creator>PptxGenJS</dc:creator>
  <cp:lastModifiedBy>Sakshi Srivastava</cp:lastModifiedBy>
  <cp:revision>2</cp:revision>
  <dcterms:created xsi:type="dcterms:W3CDTF">2026-05-28T04:28:18Z</dcterms:created>
  <dcterms:modified xsi:type="dcterms:W3CDTF">2026-05-28T13:02:22Z</dcterms:modified>
</cp:coreProperties>
</file>