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9"/>
  </p:notesMasterIdLst>
  <p:sldIdLst>
    <p:sldId id="256" r:id="rId5"/>
    <p:sldId id="2146847054" r:id="rId6"/>
    <p:sldId id="262" r:id="rId7"/>
    <p:sldId id="263" r:id="rId8"/>
    <p:sldId id="265" r:id="rId9"/>
    <p:sldId id="266" r:id="rId10"/>
    <p:sldId id="267" r:id="rId11"/>
    <p:sldId id="268" r:id="rId12"/>
    <p:sldId id="2146847055" r:id="rId13"/>
    <p:sldId id="269" r:id="rId14"/>
    <p:sldId id="2146847059" r:id="rId15"/>
    <p:sldId id="2146847060" r:id="rId16"/>
    <p:sldId id="2146847061"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2B98E8-7AC3-75BD-DBFE-38A4BBF4F439}" v="10" dt="2024-01-05T12:23:35.348"/>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 Type="http://schemas.openxmlformats.org/officeDocument/2006/relationships/customXml" Target="../customXml/item2.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5/10/relationships/revisionInfo" Target="revisionInfo.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22-07-2025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7/22/2025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7/22/2025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7/22/2025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7/22/2025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7/22/2025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7/22/2025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7/22/2025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7/22/2025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7/22/2025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7/22/2025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7/22/2025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7/22/2025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sz="2400"/>
              <a:t>AI Job Mentor for Informal Workers</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3117529" y="4586365"/>
            <a:ext cx="7980183" cy="707886"/>
          </a:xfrm>
          <a:prstGeom prst="rect">
            <a:avLst/>
          </a:prstGeom>
          <a:noFill/>
        </p:spPr>
        <p:txBody>
          <a:bodyPr wrap="square" lIns="91440" tIns="45720" rIns="91440" bIns="45720" rtlCol="0" anchor="t">
            <a:spAutoFit/>
          </a:bodyPr>
          <a:lstStyle/>
          <a:p>
            <a:r>
              <a:rPr sz="2400"/>
              <a:t>Presented By: 1. Your Name - Your College - Department</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sz="2400"/>
              <a:t>Millions of informal workers in India face challenges accessing job opportunities, skill development programs, and government schemes. Lack of digital literacy, vernacular language support, and personalized guidance worsens the opportunity gap, especially in rural and semi-urban areas.</a:t>
            </a:r>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lstStyle/>
          <a:p>
            <a:pPr marL="0" indent="0">
              <a:buNone/>
            </a:pPr>
            <a:r>
              <a:rPr lang="en-IN" sz="3200" dirty="0">
                <a:solidFill>
                  <a:srgbClr val="0F0F0F"/>
                </a:solidFill>
                <a:ea typeface="+mn-lt"/>
                <a:cs typeface="+mn-lt"/>
              </a:rPr>
              <a:t>Example:</a:t>
            </a:r>
            <a:r>
              <a:rPr lang="en-IN" sz="2800" dirty="0">
                <a:solidFill>
                  <a:srgbClr val="0F0F0F"/>
                </a:solidFill>
                <a:ea typeface="+mn-lt"/>
                <a:cs typeface="+mn-lt"/>
              </a:rPr>
              <a:t> </a:t>
            </a:r>
            <a:r>
              <a:rPr lang="en-IN" sz="2400" dirty="0">
                <a:solidFill>
                  <a:srgbClr val="0F0F0F"/>
                </a:solidFill>
                <a:ea typeface="+mn-lt"/>
                <a:cs typeface="+mn-lt"/>
              </a:rPr>
              <a:t>Currently Rental bikes are introduced in many urban cities for the enhancement of mobility comfort. It is important to make the rental bike available and accessible to the public at the right time as it lessens the waiting time. Eventually, providing the city with a stable supply of rental bikes becomes a major concern. The crucial part is the prediction of bike count required at each hour for the stable supply of rental bikes.</a:t>
            </a:r>
            <a:endParaRPr lang="en-IN" sz="2400" dirty="0"/>
          </a:p>
          <a:p>
            <a:pPr marL="305435" indent="-305435"/>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200" b="1" dirty="0">
              <a:latin typeface="Calibri"/>
              <a:cs typeface="Calibri"/>
            </a:endParaRPr>
          </a:p>
          <a:p>
            <a:pPr marL="305435" indent="-305435"/>
            <a:r>
              <a:rPr lang="en-IN" sz="1200" b="1" dirty="0">
                <a:latin typeface="Calibri"/>
                <a:ea typeface="+mn-lt"/>
                <a:cs typeface="+mn-lt"/>
              </a:rPr>
              <a:t>The proposed system aims to address the challenge of predicting the required bike count at each hour to ensure a stable supply of rental bikes. This involves leveraging data analytics and machine learning techniques to forecast demand patterns accurately. The solution will consist of the following components:</a:t>
            </a:r>
            <a:endParaRPr lang="en-IN" sz="1200" b="1" dirty="0">
              <a:latin typeface="Calibri"/>
              <a:cs typeface="Calibri"/>
            </a:endParaRPr>
          </a:p>
          <a:p>
            <a:pPr marL="305435" indent="-305435"/>
            <a:r>
              <a:rPr lang="en-IN" sz="1200" b="1" dirty="0">
                <a:latin typeface="Calibri"/>
                <a:ea typeface="+mn-lt"/>
                <a:cs typeface="+mn-lt"/>
              </a:rPr>
              <a:t>Data Collection:</a:t>
            </a:r>
            <a:endParaRPr lang="en-IN" sz="1200" b="1" dirty="0">
              <a:latin typeface="Calibri"/>
              <a:cs typeface="Calibri"/>
            </a:endParaRPr>
          </a:p>
          <a:p>
            <a:pPr marL="629920" lvl="1" indent="-305435"/>
            <a:r>
              <a:rPr lang="en-IN" sz="1200" b="1" dirty="0">
                <a:latin typeface="Calibri"/>
                <a:ea typeface="+mn-lt"/>
                <a:cs typeface="+mn-lt"/>
              </a:rPr>
              <a:t>Gather historical data on bike rentals, including time, date, location, and other relevant factors.</a:t>
            </a:r>
            <a:endParaRPr lang="en-IN" sz="1200" b="1" dirty="0">
              <a:latin typeface="Calibri"/>
              <a:cs typeface="Calibri"/>
            </a:endParaRPr>
          </a:p>
          <a:p>
            <a:pPr marL="629920" lvl="1" indent="-305435"/>
            <a:r>
              <a:rPr lang="en-IN" sz="1200" b="1" dirty="0">
                <a:latin typeface="Calibri"/>
                <a:ea typeface="+mn-lt"/>
                <a:cs typeface="+mn-lt"/>
              </a:rPr>
              <a:t>Utilize real-time data sources, such as weather conditions, events, and holidays, to enhance prediction accuracy.</a:t>
            </a:r>
            <a:endParaRPr lang="en-IN" sz="1200" b="1" dirty="0">
              <a:latin typeface="Calibri"/>
              <a:cs typeface="Calibri"/>
            </a:endParaRPr>
          </a:p>
          <a:p>
            <a:pPr marL="305435" indent="-305435"/>
            <a:r>
              <a:rPr lang="en-IN" sz="1200" b="1" dirty="0">
                <a:latin typeface="Calibri"/>
                <a:ea typeface="+mn-lt"/>
                <a:cs typeface="+mn-lt"/>
              </a:rPr>
              <a:t>Data Preprocessing:</a:t>
            </a:r>
            <a:endParaRPr lang="en-IN" sz="1200" b="1" dirty="0">
              <a:latin typeface="Calibri"/>
              <a:cs typeface="Calibri"/>
            </a:endParaRPr>
          </a:p>
          <a:p>
            <a:pPr marL="629920" lvl="1" indent="-305435"/>
            <a:r>
              <a:rPr lang="en-IN" sz="1200" b="1" dirty="0">
                <a:latin typeface="Calibri"/>
                <a:ea typeface="+mn-lt"/>
                <a:cs typeface="+mn-lt"/>
              </a:rPr>
              <a:t>Clean and preprocess the collected data to handle missing values, outliers, and inconsistencies.</a:t>
            </a:r>
            <a:endParaRPr lang="en-IN" sz="1200" b="1" dirty="0">
              <a:latin typeface="Calibri"/>
              <a:cs typeface="Calibri"/>
            </a:endParaRPr>
          </a:p>
          <a:p>
            <a:pPr marL="629920" lvl="1" indent="-305435"/>
            <a:r>
              <a:rPr lang="en-IN" sz="1200" b="1" dirty="0">
                <a:latin typeface="Calibri"/>
                <a:ea typeface="+mn-lt"/>
                <a:cs typeface="+mn-lt"/>
              </a:rPr>
              <a:t>Feature engineering to extract relevant features from the data that might impact bike demand.</a:t>
            </a:r>
            <a:endParaRPr lang="en-IN" sz="1200" b="1" dirty="0">
              <a:latin typeface="Calibri"/>
              <a:cs typeface="Calibri"/>
            </a:endParaRPr>
          </a:p>
          <a:p>
            <a:pPr marL="305435" indent="-305435"/>
            <a:r>
              <a:rPr lang="en-IN" sz="1200" b="1" dirty="0">
                <a:latin typeface="Calibri"/>
                <a:ea typeface="+mn-lt"/>
                <a:cs typeface="+mn-lt"/>
              </a:rPr>
              <a:t>Machine Learning Algorithm:</a:t>
            </a:r>
            <a:endParaRPr lang="en-IN" sz="1200" b="1" dirty="0">
              <a:latin typeface="Calibri"/>
              <a:cs typeface="Calibri"/>
            </a:endParaRPr>
          </a:p>
          <a:p>
            <a:pPr marL="629920" lvl="1" indent="-305435"/>
            <a:r>
              <a:rPr lang="en-IN" sz="1200" b="1" dirty="0">
                <a:latin typeface="Calibri"/>
                <a:ea typeface="+mn-lt"/>
                <a:cs typeface="+mn-lt"/>
              </a:rPr>
              <a:t>Implement a machine learning algorithm, such as a time-series forecasting model (e.g., ARIMA, SARIMA, or LSTM), to predict bike counts based on historical patterns.</a:t>
            </a:r>
            <a:endParaRPr lang="en-IN" sz="1200" b="1" dirty="0">
              <a:latin typeface="Calibri"/>
              <a:cs typeface="Calibri"/>
            </a:endParaRPr>
          </a:p>
          <a:p>
            <a:pPr marL="629920" lvl="1" indent="-305435"/>
            <a:r>
              <a:rPr lang="en-IN" sz="1200" b="1" dirty="0">
                <a:latin typeface="Calibri"/>
                <a:ea typeface="+mn-lt"/>
                <a:cs typeface="+mn-lt"/>
              </a:rPr>
              <a:t>Consider incorporating other factors like weather conditions, day of the week, and special events to improve prediction accuracy.</a:t>
            </a:r>
            <a:endParaRPr lang="en-IN" sz="1200" b="1" dirty="0">
              <a:latin typeface="Calibri"/>
              <a:cs typeface="Calibri"/>
            </a:endParaRPr>
          </a:p>
          <a:p>
            <a:pPr marL="305435" indent="-305435"/>
            <a:r>
              <a:rPr lang="en-IN" sz="1200" b="1" dirty="0">
                <a:latin typeface="Calibri"/>
                <a:ea typeface="+mn-lt"/>
                <a:cs typeface="+mn-lt"/>
              </a:rPr>
              <a:t>Deployment:</a:t>
            </a:r>
            <a:endParaRPr lang="en-IN" sz="1200" b="1" dirty="0">
              <a:latin typeface="Calibri"/>
              <a:cs typeface="Calibri"/>
            </a:endParaRPr>
          </a:p>
          <a:p>
            <a:pPr marL="629920" lvl="1" indent="-305435"/>
            <a:r>
              <a:rPr lang="en-IN" sz="1200" b="1" dirty="0">
                <a:latin typeface="Calibri"/>
                <a:ea typeface="+mn-lt"/>
                <a:cs typeface="+mn-lt"/>
              </a:rPr>
              <a:t>Develop a user-friendly interface or application that provides real-time predictions for bike counts at different hours.</a:t>
            </a:r>
            <a:endParaRPr lang="en-IN" sz="1200" b="1" dirty="0">
              <a:latin typeface="Calibri"/>
              <a:cs typeface="Calibri"/>
            </a:endParaRPr>
          </a:p>
          <a:p>
            <a:pPr marL="629920" lvl="1" indent="-305435"/>
            <a:r>
              <a:rPr lang="en-IN" sz="1200" b="1" dirty="0">
                <a:latin typeface="Calibri"/>
                <a:ea typeface="+mn-lt"/>
                <a:cs typeface="+mn-lt"/>
              </a:rPr>
              <a:t>Deploy the solution on a scalable and reliable platform, considering factors like server infrastructure, response time, and user accessibility.</a:t>
            </a:r>
            <a:endParaRPr lang="en-IN" sz="1200" b="1" dirty="0">
              <a:latin typeface="Calibri"/>
              <a:cs typeface="Calibri"/>
            </a:endParaRPr>
          </a:p>
          <a:p>
            <a:pPr marL="305435" indent="-305435"/>
            <a:r>
              <a:rPr lang="en-IN" sz="1200" b="1" dirty="0">
                <a:latin typeface="Calibri"/>
                <a:ea typeface="+mn-lt"/>
                <a:cs typeface="+mn-lt"/>
              </a:rPr>
              <a:t>Evaluation:</a:t>
            </a:r>
            <a:endParaRPr lang="en-IN" sz="1200" b="1" dirty="0">
              <a:latin typeface="Calibri"/>
              <a:cs typeface="Calibri"/>
            </a:endParaRPr>
          </a:p>
          <a:p>
            <a:pPr marL="629920" lvl="1" indent="-305435"/>
            <a:r>
              <a:rPr lang="en-IN" sz="1200" b="1" dirty="0">
                <a:latin typeface="Calibri"/>
                <a:ea typeface="+mn-lt"/>
                <a:cs typeface="+mn-lt"/>
              </a:rPr>
              <a:t>Assess the model's performance using appropriate metrics such as Mean Absolute Error (MAE), Root Mean Squared Error (RMSE), or other relevant metrics.</a:t>
            </a:r>
            <a:endParaRPr lang="en-IN" sz="1200" b="1" dirty="0">
              <a:latin typeface="Calibri"/>
              <a:cs typeface="Calibri"/>
            </a:endParaRPr>
          </a:p>
          <a:p>
            <a:pPr marL="629920" lvl="1" indent="-305435"/>
            <a:r>
              <a:rPr lang="en-IN" sz="1200" b="1" dirty="0">
                <a:latin typeface="Calibri"/>
                <a:ea typeface="+mn-lt"/>
                <a:cs typeface="+mn-lt"/>
              </a:rPr>
              <a:t>Fine-tune the model based on feedback and continuous monitoring of prediction accuracy.</a:t>
            </a:r>
            <a:endParaRPr lang="en-IN" sz="1200" b="1" dirty="0">
              <a:latin typeface="Calibri"/>
            </a:endParaRPr>
          </a:p>
          <a:p>
            <a:pPr marL="629920" lvl="1" indent="-305435"/>
            <a:r>
              <a:rPr lang="en-IN" sz="1200" dirty="0">
                <a:ea typeface="+mn-lt"/>
                <a:cs typeface="+mn-lt"/>
              </a:rPr>
              <a:t>Result:</a:t>
            </a:r>
            <a:endParaRPr lang="en-IN" sz="1200" dirty="0"/>
          </a:p>
          <a:p>
            <a:pPr marL="0" indent="0">
              <a:buNone/>
            </a:pPr>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lstStyle/>
          <a:p>
            <a:pPr marL="0" indent="0">
              <a:buNone/>
            </a:pPr>
            <a:r>
              <a:rPr lang="en-IN" sz="1800" b="1">
                <a:solidFill>
                  <a:srgbClr val="0F0F0F"/>
                </a:solidFill>
                <a:ea typeface="+mn-lt"/>
                <a:cs typeface="+mn-lt"/>
              </a:rPr>
              <a:t>The "System Approach" section outlines the overall strategy and methodology for developing and implementing the rental bike prediction system. Here's a suggested structure for this section:</a:t>
            </a:r>
            <a:endParaRPr lang="en-US"/>
          </a:p>
          <a:p>
            <a:pPr marL="305435" indent="-305435"/>
            <a:r>
              <a:rPr lang="en-IN" sz="1800" b="1">
                <a:solidFill>
                  <a:srgbClr val="0F0F0F"/>
                </a:solidFill>
              </a:rPr>
              <a:t>System requirements</a:t>
            </a:r>
          </a:p>
          <a:p>
            <a:pPr marL="305435" indent="-305435"/>
            <a:r>
              <a:rPr lang="en-IN" sz="1800" b="1">
                <a:solidFill>
                  <a:srgbClr val="0F0F0F"/>
                </a:solidFill>
              </a:rPr>
              <a:t>Library required to build the model</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lstStyle/>
          <a:p>
            <a:pPr marL="305435" indent="-305435"/>
            <a:r>
              <a:rPr lang="en-IN" sz="1400" dirty="0">
                <a:ea typeface="+mn-lt"/>
                <a:cs typeface="+mn-lt"/>
              </a:rPr>
              <a:t>In the Algorithm section, describe the machine learning algorithm chosen for predicting bike counts. Here's an example structure for this section:</a:t>
            </a:r>
            <a:endParaRPr lang="en-IN" sz="1400" dirty="0"/>
          </a:p>
          <a:p>
            <a:pPr marL="305435" indent="-305435"/>
            <a:r>
              <a:rPr lang="en-IN" sz="1400" b="1" dirty="0">
                <a:ea typeface="+mn-lt"/>
                <a:cs typeface="+mn-lt"/>
              </a:rPr>
              <a:t>Algorithm Selection:</a:t>
            </a:r>
            <a:endParaRPr lang="en-IN" sz="1400" dirty="0"/>
          </a:p>
          <a:p>
            <a:pPr marL="629920" lvl="1" indent="-305435"/>
            <a:r>
              <a:rPr lang="en-IN" dirty="0">
                <a:ea typeface="+mn-lt"/>
                <a:cs typeface="+mn-lt"/>
              </a:rPr>
              <a:t>Provide a brief overview of the chosen algorithm (e.g., time-series forecasting model, like ARIMA or LSTM) and justify its selection based on the problem statement and data characteristics.</a:t>
            </a:r>
            <a:endParaRPr lang="en-IN" dirty="0"/>
          </a:p>
          <a:p>
            <a:pPr marL="305435" indent="-305435"/>
            <a:r>
              <a:rPr lang="en-IN" sz="1400" b="1" dirty="0">
                <a:ea typeface="+mn-lt"/>
                <a:cs typeface="+mn-lt"/>
              </a:rPr>
              <a:t>Data Input:</a:t>
            </a:r>
            <a:endParaRPr lang="en-IN" sz="1400" dirty="0"/>
          </a:p>
          <a:p>
            <a:pPr marL="629920" lvl="1" indent="-305435"/>
            <a:r>
              <a:rPr lang="en-IN" dirty="0">
                <a:ea typeface="+mn-lt"/>
                <a:cs typeface="+mn-lt"/>
              </a:rPr>
              <a:t>Specify the input features used by the algorithm, such as historical bike rental data, weather conditions, day of the week, and any other relevant factors.</a:t>
            </a:r>
            <a:endParaRPr lang="en-IN" dirty="0"/>
          </a:p>
          <a:p>
            <a:pPr marL="305435" indent="-305435"/>
            <a:r>
              <a:rPr lang="en-IN" sz="1400" b="1" dirty="0">
                <a:ea typeface="+mn-lt"/>
                <a:cs typeface="+mn-lt"/>
              </a:rPr>
              <a:t>Training Process:</a:t>
            </a:r>
            <a:endParaRPr lang="en-IN" sz="1400" dirty="0"/>
          </a:p>
          <a:p>
            <a:pPr marL="629920" lvl="1" indent="-305435"/>
            <a:r>
              <a:rPr lang="en-IN" dirty="0">
                <a:ea typeface="+mn-lt"/>
                <a:cs typeface="+mn-lt"/>
              </a:rPr>
              <a:t>Explain how the algorithm is trained using historical data. Highlight any specific considerations or techniques employed, such as cross-validation or hyperparameter tuning.</a:t>
            </a:r>
            <a:endParaRPr lang="en-IN" dirty="0"/>
          </a:p>
          <a:p>
            <a:pPr marL="305435" indent="-305435"/>
            <a:r>
              <a:rPr lang="en-IN" sz="1400" b="1" dirty="0">
                <a:ea typeface="+mn-lt"/>
                <a:cs typeface="+mn-lt"/>
              </a:rPr>
              <a:t>Prediction Process:</a:t>
            </a:r>
            <a:endParaRPr lang="en-IN" sz="1400" dirty="0"/>
          </a:p>
          <a:p>
            <a:pPr marL="629920" lvl="1" indent="-305435"/>
            <a:r>
              <a:rPr lang="en-IN" dirty="0">
                <a:ea typeface="+mn-lt"/>
                <a:cs typeface="+mn-lt"/>
              </a:rPr>
              <a:t>Detail how the trained algorithm makes predictions for future bike counts. Discuss any real-time data inputs considered during the prediction phase.</a:t>
            </a:r>
            <a:endParaRPr lang="en-IN" dirty="0"/>
          </a:p>
          <a:p>
            <a:pPr marL="305435" indent="-305435"/>
            <a:endParaRPr lang="en-IN"/>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0" indent="0">
              <a:buNone/>
            </a:pPr>
            <a:r>
              <a:rPr lang="en-IN" sz="2400" dirty="0">
                <a:solidFill>
                  <a:srgbClr val="0F0F0F"/>
                </a:solidFill>
                <a:ea typeface="+mn-lt"/>
                <a:cs typeface="+mn-lt"/>
              </a:rPr>
              <a:t>Present the results of the machine learning model in terms of its accuracy and effectiveness in predicting bike counts. Include visualizations and comparisons between predicted and actual counts to highlight the model's performance.</a:t>
            </a:r>
            <a:endParaRPr lang="en-IN" sz="2400" dirty="0"/>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IN" sz="2000" dirty="0">
                <a:solidFill>
                  <a:srgbClr val="0F0F0F"/>
                </a:solidFill>
                <a:ea typeface="+mn-lt"/>
                <a:cs typeface="+mn-lt"/>
              </a:rPr>
              <a:t>Summarize the findings and discuss the effectiveness of the proposed solution. Highlight any challenges encountered during the implementation and potential improvements. Emphasize the importance of accurate bike count predictions for ensuring a stable supply of rental bikes in urban areas.</a:t>
            </a:r>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endParaRPr lang="en-US" sz="2000" b="1" dirty="0"/>
          </a:p>
          <a:p>
            <a:pPr marL="305435" indent="-305435"/>
            <a:r>
              <a:rPr lang="en-US" sz="2000" dirty="0">
                <a:ea typeface="+mn-lt"/>
                <a:cs typeface="+mn-lt"/>
              </a:rPr>
              <a:t>Discuss potential enhancements and expansions for the system. This could include incorporating additional data sources, optimizing the algorithm for better performance, and expanding the system to cover multiple cities or regions. Consider the integration of emerging technologies such as edge computing or advanced machine learning techniques.</a:t>
            </a:r>
            <a:endParaRPr lang="en-US" sz="2000" dirty="0"/>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IN" sz="2400" dirty="0">
                <a:solidFill>
                  <a:srgbClr val="0F0F0F"/>
                </a:solidFill>
                <a:ea typeface="+mn-lt"/>
                <a:cs typeface="+mn-lt"/>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2E52-0C9E-7CCC-47E8-5C4711AD23FE}"/>
              </a:ext>
            </a:extLst>
          </p:cNvPr>
          <p:cNvSpPr>
            <a:spLocks noGrp="1"/>
          </p:cNvSpPr>
          <p:nvPr>
            <p:ph type="title"/>
          </p:nvPr>
        </p:nvSpPr>
        <p:spPr/>
        <p:txBody>
          <a:bodyPr/>
          <a:lstStyle/>
          <a:p>
            <a:r>
              <a:rPr lang="en-IN" dirty="0">
                <a:solidFill>
                  <a:schemeClr val="accent1"/>
                </a:solidFill>
              </a:rPr>
              <a:t>IBM Certifications</a:t>
            </a:r>
          </a:p>
        </p:txBody>
      </p:sp>
      <p:sp>
        <p:nvSpPr>
          <p:cNvPr id="3" name="Content Placeholder 2">
            <a:extLst>
              <a:ext uri="{FF2B5EF4-FFF2-40B4-BE49-F238E27FC236}">
                <a16:creationId xmlns:a16="http://schemas.microsoft.com/office/drawing/2014/main" id="{177D9613-6E93-8A63-8EC7-750760D77FD8}"/>
              </a:ext>
            </a:extLst>
          </p:cNvPr>
          <p:cNvSpPr>
            <a:spLocks noGrp="1"/>
          </p:cNvSpPr>
          <p:nvPr>
            <p:ph idx="1"/>
          </p:nvPr>
        </p:nvSpPr>
        <p:spPr/>
        <p:txBody>
          <a:bodyPr/>
          <a:lstStyle/>
          <a:p>
            <a:r>
              <a:rPr lang="en-IN" dirty="0"/>
              <a:t>Screenshot/ </a:t>
            </a:r>
            <a:r>
              <a:rPr lang="en-IN" dirty="0" err="1"/>
              <a:t>credly</a:t>
            </a:r>
            <a:r>
              <a:rPr lang="en-IN" dirty="0"/>
              <a:t> certificate( getting started with AI)</a:t>
            </a:r>
          </a:p>
        </p:txBody>
      </p:sp>
    </p:spTree>
    <p:extLst>
      <p:ext uri="{BB962C8B-B14F-4D97-AF65-F5344CB8AC3E}">
        <p14:creationId xmlns:p14="http://schemas.microsoft.com/office/powerpoint/2010/main" val="384733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2E52-0C9E-7CCC-47E8-5C4711AD23FE}"/>
              </a:ext>
            </a:extLst>
          </p:cNvPr>
          <p:cNvSpPr>
            <a:spLocks noGrp="1"/>
          </p:cNvSpPr>
          <p:nvPr>
            <p:ph type="title"/>
          </p:nvPr>
        </p:nvSpPr>
        <p:spPr/>
        <p:txBody>
          <a:bodyPr/>
          <a:lstStyle/>
          <a:p>
            <a:r>
              <a:rPr lang="en-IN" dirty="0">
                <a:solidFill>
                  <a:schemeClr val="accent1"/>
                </a:solidFill>
              </a:rPr>
              <a:t>IBM Certifications</a:t>
            </a:r>
          </a:p>
        </p:txBody>
      </p:sp>
      <p:sp>
        <p:nvSpPr>
          <p:cNvPr id="3" name="Content Placeholder 2">
            <a:extLst>
              <a:ext uri="{FF2B5EF4-FFF2-40B4-BE49-F238E27FC236}">
                <a16:creationId xmlns:a16="http://schemas.microsoft.com/office/drawing/2014/main" id="{177D9613-6E93-8A63-8EC7-750760D77FD8}"/>
              </a:ext>
            </a:extLst>
          </p:cNvPr>
          <p:cNvSpPr>
            <a:spLocks noGrp="1"/>
          </p:cNvSpPr>
          <p:nvPr>
            <p:ph idx="1"/>
          </p:nvPr>
        </p:nvSpPr>
        <p:spPr/>
        <p:txBody>
          <a:bodyPr/>
          <a:lstStyle/>
          <a:p>
            <a:r>
              <a:rPr lang="en-IN" dirty="0"/>
              <a:t>Screenshot/ </a:t>
            </a:r>
            <a:r>
              <a:rPr lang="en-IN" dirty="0" err="1"/>
              <a:t>credly</a:t>
            </a:r>
            <a:r>
              <a:rPr lang="en-IN" dirty="0"/>
              <a:t> certificate( Journey to Cloud)</a:t>
            </a:r>
          </a:p>
        </p:txBody>
      </p:sp>
    </p:spTree>
    <p:extLst>
      <p:ext uri="{BB962C8B-B14F-4D97-AF65-F5344CB8AC3E}">
        <p14:creationId xmlns:p14="http://schemas.microsoft.com/office/powerpoint/2010/main" val="4128710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2E52-0C9E-7CCC-47E8-5C4711AD23FE}"/>
              </a:ext>
            </a:extLst>
          </p:cNvPr>
          <p:cNvSpPr>
            <a:spLocks noGrp="1"/>
          </p:cNvSpPr>
          <p:nvPr>
            <p:ph type="title"/>
          </p:nvPr>
        </p:nvSpPr>
        <p:spPr/>
        <p:txBody>
          <a:bodyPr/>
          <a:lstStyle/>
          <a:p>
            <a:r>
              <a:rPr lang="en-IN" dirty="0">
                <a:solidFill>
                  <a:schemeClr val="accent1"/>
                </a:solidFill>
              </a:rPr>
              <a:t>IBM Certifications</a:t>
            </a:r>
          </a:p>
        </p:txBody>
      </p:sp>
      <p:sp>
        <p:nvSpPr>
          <p:cNvPr id="3" name="Content Placeholder 2">
            <a:extLst>
              <a:ext uri="{FF2B5EF4-FFF2-40B4-BE49-F238E27FC236}">
                <a16:creationId xmlns:a16="http://schemas.microsoft.com/office/drawing/2014/main" id="{177D9613-6E93-8A63-8EC7-750760D77FD8}"/>
              </a:ext>
            </a:extLst>
          </p:cNvPr>
          <p:cNvSpPr>
            <a:spLocks noGrp="1"/>
          </p:cNvSpPr>
          <p:nvPr>
            <p:ph idx="1"/>
          </p:nvPr>
        </p:nvSpPr>
        <p:spPr/>
        <p:txBody>
          <a:bodyPr/>
          <a:lstStyle/>
          <a:p>
            <a:r>
              <a:rPr lang="en-IN" dirty="0"/>
              <a:t>Screenshot/ </a:t>
            </a:r>
            <a:r>
              <a:rPr lang="en-IN" dirty="0" err="1"/>
              <a:t>credly</a:t>
            </a:r>
            <a:r>
              <a:rPr lang="en-IN" dirty="0"/>
              <a:t> certificate( RAG Lab)</a:t>
            </a:r>
          </a:p>
        </p:txBody>
      </p:sp>
    </p:spTree>
    <p:extLst>
      <p:ext uri="{BB962C8B-B14F-4D97-AF65-F5344CB8AC3E}">
        <p14:creationId xmlns:p14="http://schemas.microsoft.com/office/powerpoint/2010/main" val="2171852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0</TotalTime>
  <Words>805</Words>
  <Application>Microsoft Office PowerPoint</Application>
  <PresentationFormat>Widescreen</PresentationFormat>
  <Paragraphs>65</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Franklin Gothic Book</vt:lpstr>
      <vt:lpstr>Franklin Gothic Demi</vt:lpstr>
      <vt:lpstr>Wingdings 2</vt:lpstr>
      <vt:lpstr>DividendVTI</vt:lpstr>
      <vt:lpstr>PROJECT TITLE</vt:lpstr>
      <vt:lpstr>OUTLINE</vt:lpstr>
      <vt:lpstr>Problem Statement</vt:lpstr>
      <vt:lpstr>Proposed Solution</vt:lpstr>
      <vt:lpstr>System  Approach</vt:lpstr>
      <vt:lpstr>Algorithm &amp; Deployment</vt:lpstr>
      <vt:lpstr>Result</vt:lpstr>
      <vt:lpstr>Conclusion</vt:lpstr>
      <vt:lpstr>PowerPoint Presentation</vt:lpstr>
      <vt:lpstr>References</vt:lpstr>
      <vt:lpstr>IBM Certifications</vt:lpstr>
      <vt:lpstr>IBM Certifications</vt:lpstr>
      <vt:lpstr>IBM Certifications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Eluri Narendra</cp:lastModifiedBy>
  <cp:revision>24</cp:revision>
  <dcterms:created xsi:type="dcterms:W3CDTF">2021-05-26T16:50:10Z</dcterms:created>
  <dcterms:modified xsi:type="dcterms:W3CDTF">2025-07-22T04:15:06Z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