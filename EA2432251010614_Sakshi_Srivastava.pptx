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80" r:id="rId14"/>
    <p:sldId id="269" r:id="rId15"/>
    <p:sldId id="270" r:id="rId16"/>
    <p:sldId id="271" r:id="rId17"/>
    <p:sldId id="272" r:id="rId18"/>
    <p:sldId id="273" r:id="rId19"/>
    <p:sldId id="281" r:id="rId20"/>
    <p:sldId id="282" r:id="rId21"/>
    <p:sldId id="283" r:id="rId22"/>
    <p:sldId id="284" r:id="rId23"/>
    <p:sldId id="285" r:id="rId24"/>
    <p:sldId id="286" r:id="rId25"/>
    <p:sldId id="274" r:id="rId26"/>
    <p:sldId id="275" r:id="rId27"/>
    <p:sldId id="276" r:id="rId28"/>
    <p:sldId id="277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69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210D-D3F4-8799-DF9A-A3B7F4C6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929C3-3290-9839-8E8C-F2BE14A37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7D570-0361-5C93-208E-83AC3C74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1836F-5FD9-1752-C5CE-FE561BE94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07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5764-6676-FF17-8D64-73E95D39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B6206-7972-C4A6-0CA1-A725125B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64099-7428-BC42-BDD0-E0C2C4A98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6F4DB-1F21-235A-B7F9-0C15D9E61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86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54FDC-5C0B-E0A7-A050-DAC78089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6027-6ECC-8704-F3D0-5193EC658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07928-3D0A-0923-6C6D-AF5CE2496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0531-F4FE-1E11-613B-B60DD82E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87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59F8-ACC4-57A9-071A-7CD67586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7FD06-70A2-FAF8-1AC1-15AD259E3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7B66C-4F54-134A-EACB-91EBB668C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059B3-C55B-C6FE-26D9-D2A4BD3C7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34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79AF-0D18-5D5C-A420-195B0297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3107-60A4-0A2C-3C02-7E294D5AD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A43B9-3DD5-6E2F-78F5-1CF4FAA23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B2957-6CE8-7683-7798-5DDBD2856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68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E492-FBA5-7E5C-63CB-D9C79DE3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324E7-5AD1-13F6-D8F5-97C2D7CBC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61588-8456-34E1-BE0C-64991DE74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5D1FE-3777-E9D4-F2A2-30428DD3A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71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06040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ONLINE EDUCATION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 – 603 203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— PROJECT VIVA VOCE  |  MAY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EA2432251010614 ]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  |  Assistant Professor, Directorate of Online Education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Directorate of Online Education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22960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78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develops an intelligent, cloud-enabled Geo-AI analytics framework for environmental monitoring, vegetation assessment, and spatial risk prediction using Machine Learning and GIS technologies.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72768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integrates satellite imagery (Sentinel-2, Landsat-8), OpenStreetMap vectors, Digital Elevation Models and ISRO-IIRS datasets to create a unified analytics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22576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spatial features extracted include NDVI, Land Surface Temperature (LST), elevation, rainfall, and land use/cover data for supervised ML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— Random Forest, Gradient Boosting, SVM, Decision Trees and CNNs — detect deforestation, urban expansion, vegetation stress and high-risk ecological zones.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22192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deployed as Flask + Streamlit cloud web app with JWT authentication, interactive Leaflet.js maps and Chart.js dashboards for real-time decision support.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D0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is critical for environmental monitoring, disaster management and climate analysis.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rely on manual interpretation and static mapping — lacking intelligent prediction.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enable automatic pattern detection from large spatial datasets.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satellite data availability demands scalable, automated analytics platforms.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160520" cy="3931920"/>
          </a:xfrm>
          <a:prstGeom prst="rect">
            <a:avLst/>
          </a:prstGeom>
          <a:solidFill>
            <a:srgbClr val="E8F9F4"/>
          </a:solidFill>
          <a:ln w="19050">
            <a:solidFill>
              <a:srgbClr val="B2E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 Analytics Dashboard integrating ML + GIS for environmental risk zone prediction.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847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CSV geospatial datasets and obtain predictions via interactive charts &amp; maps.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5237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inspired by ISRO-IIRS advanced space research &amp; geospatial intelligence systems.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2004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Cloud-based, secure, scalable and user-friendly web interface.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 a system for analyzing geospatial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ML techniques for environmental prediction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Automate data preprocessing and feature engineering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Provide a user-friendly interactive web interface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accurate and meaningful geospatial results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23560" y="80467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11521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geospatial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classification &amp; prediction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visualization of 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environment, climate studies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6334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2871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satellite data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GIS software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7043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GIS platforms focus on visualization/mapping only — no ML-based predictive environmental analysis.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7043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efficiently handle large satellite imagery, raster datasets and high-dimensional spatial information.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49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523744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lack dynamic dashboards and real-time mapping for effective spatial trend interpretation.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49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ML-GIS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523744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fail to combine spatial analytics with ML models to detect hidden environmental patterns.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02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 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877056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manual intervention required for detecting changes like deforestation, urban expansion and climate risks.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02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Decision Support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877056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generate real-time predictions needed for disaster management, agriculture and climate monitoring.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solidFill>
            <a:srgbClr val="001F54"/>
          </a:solidFill>
          <a:ln w="25400">
            <a:solidFill>
              <a:srgbClr val="00A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 · Decision Trees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· Landsat-8 · OpenStreetMap · DEM · ISRO-IIRS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· Cloud masking · Normalization · NDVI · LST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 · Chart.js · Interactive dashboards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Streamlit · JWT Auth · REST API · Cloud-based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· Disaster Mgmt · Climate Monitoring · Urban Planning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33856"/>
          <a:ext cx="3931920" cy="1828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Processor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Intel i3 or above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RAM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Minimum 4 GB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Storage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20 GB Free Space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Internet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Required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33856"/>
          <a:ext cx="4114800" cy="31089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Language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Python 3.x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IDE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Visual Studio Code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ML Libraries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Scikit-learn, TensorFlow/Keras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Web Framework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Flask, Streamlit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HTML, CSS, JavaScript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Mapping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Leaflet.js, Chart.js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 Handling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Pandas, NumPy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JSON-based persistence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31272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Requirements: User Registration &amp; Login · CSV Dataset Upload · Environmental Risk Prediction · Data Visualization · Geospatial Map View · Admin Dashboard · JWT Authentication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2860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859536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111556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CSV datasets with geospatial parameters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41832" y="131673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dataset format and structure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151790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latitude, longitude, rainfall, temperature, vegetation index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41832" y="171907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or corrupted data uploads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1920240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192938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Python · Pandas · Flask/Streamlit upload components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709160" y="804672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04672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96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0916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2392" y="859536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Module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22392" y="111556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&amp; null values; removes duplicates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22392" y="131673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normalization, scaling &amp; encoding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22392" y="151790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NDVI, LST, elevation, rainfall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22392" y="171907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training and testing sets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1920240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192938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Pandas · NumPy · Scikit-learn preprocessing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28600" y="2194560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194560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2860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832" y="224942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1832" y="250545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models on historical environmental data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1832" y="270662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classification &amp; prediction algorithms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1832" y="290779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1832" y="310896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with Accuracy, F1-Score, RMSE, Confusion Matrix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8680" y="3310128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331927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Scikit-learn · TensorFlow/Keras · Python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09160" y="2194560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194560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470916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22392" y="224942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22392" y="250545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new environmental input data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22392" y="270662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trained model for real-time inference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22392" y="290779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levels &amp; identifies vegetation stress zones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22392" y="310896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risk prediction &amp; classification results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49240" y="3310128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04104" y="331927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joblib (model loading) · Flask API · Python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28600" y="3584448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3584448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675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22860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41832" y="3639312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41832" y="389534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interactive geospatial Leaflet.js maps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41832" y="409651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Chart.js charts and statistical graphs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41832" y="429768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spatial risk mapping &amp; prediction layers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41832" y="449884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prediction distributions &amp; trend analysis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68680" y="4700016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3544" y="470916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Leaflet.js · Chart.js · Matplotlib · Plotly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4709160" y="3584448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09160" y="3584448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3675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470916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422392" y="3639312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422392" y="389534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dashboard with real-time display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22392" y="409651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 &amp; session management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422392" y="429768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upload, Admin panel &amp; prediction history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422392" y="449884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design requiring no technical expertise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49240" y="4700016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04104" y="470916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HTML · CSS · JavaScript · Flask · Streamlit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— DATA FLOW &amp; RESPONSIBILITIES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1280160" cy="56692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786384"/>
            <a:ext cx="1280160" cy="56692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786384"/>
            <a:ext cx="1280160" cy="566928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786384"/>
            <a:ext cx="1280160" cy="566928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786384"/>
            <a:ext cx="1280160" cy="5669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786384"/>
            <a:ext cx="1280160" cy="566928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4206240" cy="194310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Data Input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Accepts CSV · Validates attributes · Blocks corrupt files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Raw CSV file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Validated DataFrame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Preprocessing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Fill nulls · Normalize · Encode · Feature extract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Raw DataFrame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Clean feature matrix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ML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Train Random Forest · Evaluate · Save model.pkl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Feature matrix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Trained ML model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81328"/>
          <a:ext cx="4206240" cy="196596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Prediction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Load model · Run inference · Return risk labels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New CSV input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Prediction JSON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Visualization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Render Leaflet.js map · Chart.js graphs · Reports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Prediction results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Interactive dashboard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User Interface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JWT auth · File upload · Display results · Admin panel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User actions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Web dashboard response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274320" y="3547872"/>
            <a:ext cx="8595360" cy="50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11480" y="3566160"/>
            <a:ext cx="8366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Module Integration:  Frontend UI  →  Flask REST API  →  Preprocessing  →  ML Model  →  Prediction Engine  →  Visualization Dashboard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74320" y="4133088"/>
            <a:ext cx="8595360" cy="60350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1480" y="41696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Requirements: Performance · Reliability · Usability · Security · Scalability · Compatibility · Maintainability · Portability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/ FLOWCHART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731520"/>
            <a:ext cx="164592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07899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228186"/>
            <a:ext cx="3108960" cy="33086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28451" y="1216152"/>
            <a:ext cx="3108960" cy="356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Login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82496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55905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728214"/>
            <a:ext cx="3108960" cy="292610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1698945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91640"/>
            <a:ext cx="1965960" cy="402336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678344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907522"/>
            <a:ext cx="822960" cy="0"/>
          </a:xfrm>
          <a:prstGeom prst="line">
            <a:avLst/>
          </a:prstGeom>
          <a:noFill/>
          <a:ln w="19050">
            <a:solidFill>
              <a:srgbClr val="E17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6276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88336" y="180693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97739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2125980"/>
            <a:ext cx="3474720" cy="33557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2834640" y="2004350"/>
            <a:ext cx="3474720" cy="5779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Dataset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06624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2480601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71251" y="2596030"/>
            <a:ext cx="4023360" cy="330916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2605568"/>
            <a:ext cx="4023360" cy="301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218688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289636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3054962"/>
            <a:ext cx="3474720" cy="310083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2834640" y="297180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Load ML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730752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36730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70048" y="3513214"/>
            <a:ext cx="4023360" cy="308112"/>
          </a:xfrm>
          <a:prstGeom prst="rect">
            <a:avLst/>
          </a:prstGeom>
          <a:solidFill>
            <a:srgbClr val="1AABB5"/>
          </a:solidFill>
          <a:ln w="12700">
            <a:solidFill>
              <a:srgbClr val="1AABB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60320" y="34514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Environmental Predictions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242816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381688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0" y="3945688"/>
            <a:ext cx="3657600" cy="32077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2743200" y="3887750"/>
            <a:ext cx="3657600" cy="457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 (Charts + Maps)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549140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424510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45571" y="4348366"/>
            <a:ext cx="3474720" cy="253720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6" name="Text 44"/>
          <p:cNvSpPr/>
          <p:nvPr/>
        </p:nvSpPr>
        <p:spPr>
          <a:xfrm>
            <a:off x="2845571" y="425653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Export Reports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83293" y="4585757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59971" y="4681769"/>
            <a:ext cx="1645920" cy="214423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70061" y="459714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191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093AAD-7D72-AF5D-56AD-12B53F9B6DC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550D0D-7D5F-F931-CD07-64F2C5B799A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97E940-CB11-1379-69E0-73604DFA0AD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09077F-4A87-8C87-28EC-C7E488F15465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5B6A4F-7C63-B890-9BE0-6E32F1F9017E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AD8CCD-4AE9-190E-1F4A-B2448CAFBE9D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- 12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108248-CC90-E858-2851-898B72EDC0E5}"/>
              </a:ext>
            </a:extLst>
          </p:cNvPr>
          <p:cNvSpPr/>
          <p:nvPr/>
        </p:nvSpPr>
        <p:spPr>
          <a:xfrm>
            <a:off x="2103120" y="786384"/>
            <a:ext cx="5120640" cy="4041648"/>
          </a:xfrm>
          <a:prstGeom prst="rect">
            <a:avLst/>
          </a:prstGeom>
          <a:solidFill>
            <a:srgbClr val="F0F7FF"/>
          </a:solidFill>
          <a:ln w="19050">
            <a:solidFill>
              <a:srgbClr val="A8C8E8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19DE08A-E7F8-05FB-9801-7843095DECDF}"/>
              </a:ext>
            </a:extLst>
          </p:cNvPr>
          <p:cNvSpPr/>
          <p:nvPr/>
        </p:nvSpPr>
        <p:spPr>
          <a:xfrm>
            <a:off x="2103120" y="786384"/>
            <a:ext cx="512064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C01405-3056-9290-3405-AD5AAACA407C}"/>
              </a:ext>
            </a:extLst>
          </p:cNvPr>
          <p:cNvSpPr/>
          <p:nvPr/>
        </p:nvSpPr>
        <p:spPr>
          <a:xfrm>
            <a:off x="2103120" y="78638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Geo-AI Analytics Dashboard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2F33D88-FFEB-0B24-3588-23F7BF59F648}"/>
              </a:ext>
            </a:extLst>
          </p:cNvPr>
          <p:cNvSpPr/>
          <p:nvPr/>
        </p:nvSpPr>
        <p:spPr>
          <a:xfrm>
            <a:off x="2377440" y="1170432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28D49C-8F6B-764D-3042-FD8EED2ED58C}"/>
              </a:ext>
            </a:extLst>
          </p:cNvPr>
          <p:cNvSpPr/>
          <p:nvPr/>
        </p:nvSpPr>
        <p:spPr>
          <a:xfrm>
            <a:off x="2377440" y="11704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4EC46B-0C9B-63E7-994B-DC45C2E6DAE5}"/>
              </a:ext>
            </a:extLst>
          </p:cNvPr>
          <p:cNvSpPr/>
          <p:nvPr/>
        </p:nvSpPr>
        <p:spPr>
          <a:xfrm>
            <a:off x="2377440" y="1517904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C1B677-31CB-4D50-87E2-FE52D9B2B27D}"/>
              </a:ext>
            </a:extLst>
          </p:cNvPr>
          <p:cNvSpPr/>
          <p:nvPr/>
        </p:nvSpPr>
        <p:spPr>
          <a:xfrm>
            <a:off x="2377440" y="15179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D70E7C-CA20-60CD-729E-9F644D8E70CC}"/>
              </a:ext>
            </a:extLst>
          </p:cNvPr>
          <p:cNvSpPr/>
          <p:nvPr/>
        </p:nvSpPr>
        <p:spPr>
          <a:xfrm>
            <a:off x="2377440" y="1865376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E0C6F86-D41C-4C6D-B08B-FB40FD0CC88E}"/>
              </a:ext>
            </a:extLst>
          </p:cNvPr>
          <p:cNvSpPr/>
          <p:nvPr/>
        </p:nvSpPr>
        <p:spPr>
          <a:xfrm>
            <a:off x="2377440" y="18653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B6FB979-35D9-CCCD-37E4-A9117D3E9D2D}"/>
              </a:ext>
            </a:extLst>
          </p:cNvPr>
          <p:cNvSpPr/>
          <p:nvPr/>
        </p:nvSpPr>
        <p:spPr>
          <a:xfrm>
            <a:off x="2377440" y="2212848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FB4F405-2142-2C5B-B88C-BD435C056214}"/>
              </a:ext>
            </a:extLst>
          </p:cNvPr>
          <p:cNvSpPr/>
          <p:nvPr/>
        </p:nvSpPr>
        <p:spPr>
          <a:xfrm>
            <a:off x="2377440" y="22128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Datasets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629CCA3-B077-029C-6BD5-38EE5E9A27E2}"/>
              </a:ext>
            </a:extLst>
          </p:cNvPr>
          <p:cNvSpPr/>
          <p:nvPr/>
        </p:nvSpPr>
        <p:spPr>
          <a:xfrm>
            <a:off x="2377440" y="2560320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125DEB8-7060-A08C-7133-D6A3FACEB515}"/>
              </a:ext>
            </a:extLst>
          </p:cNvPr>
          <p:cNvSpPr/>
          <p:nvPr/>
        </p:nvSpPr>
        <p:spPr>
          <a:xfrm>
            <a:off x="2377440" y="2560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Prediction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3E47849-5B2B-B3FB-0525-7870D222B37A}"/>
              </a:ext>
            </a:extLst>
          </p:cNvPr>
          <p:cNvSpPr/>
          <p:nvPr/>
        </p:nvSpPr>
        <p:spPr>
          <a:xfrm>
            <a:off x="2377440" y="2907792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C1F7C8-6E0E-F740-E412-A1E9801B8144}"/>
              </a:ext>
            </a:extLst>
          </p:cNvPr>
          <p:cNvSpPr/>
          <p:nvPr/>
        </p:nvSpPr>
        <p:spPr>
          <a:xfrm>
            <a:off x="2377440" y="29077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DD25C4-2A07-D19C-79D0-43955DEBF1EF}"/>
              </a:ext>
            </a:extLst>
          </p:cNvPr>
          <p:cNvSpPr/>
          <p:nvPr/>
        </p:nvSpPr>
        <p:spPr>
          <a:xfrm>
            <a:off x="2377440" y="3255264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51E4CF-087E-D43E-A021-FA96B100B31C}"/>
              </a:ext>
            </a:extLst>
          </p:cNvPr>
          <p:cNvSpPr/>
          <p:nvPr/>
        </p:nvSpPr>
        <p:spPr>
          <a:xfrm>
            <a:off x="2377440" y="3255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1C8C1CC-32FD-D348-294D-D1FC485EEE36}"/>
              </a:ext>
            </a:extLst>
          </p:cNvPr>
          <p:cNvSpPr/>
          <p:nvPr/>
        </p:nvSpPr>
        <p:spPr>
          <a:xfrm>
            <a:off x="2377440" y="3602736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3FADFDD-34DA-9004-1952-0CC0DA3A3B3E}"/>
              </a:ext>
            </a:extLst>
          </p:cNvPr>
          <p:cNvSpPr/>
          <p:nvPr/>
        </p:nvSpPr>
        <p:spPr>
          <a:xfrm>
            <a:off x="2377440" y="36027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02EBE7C-3C3F-320F-565B-6ED7180418BA}"/>
              </a:ext>
            </a:extLst>
          </p:cNvPr>
          <p:cNvSpPr/>
          <p:nvPr/>
        </p:nvSpPr>
        <p:spPr>
          <a:xfrm>
            <a:off x="2377440" y="3950208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A96A5B5-1813-8E2C-6111-EAD8C0C49F8E}"/>
              </a:ext>
            </a:extLst>
          </p:cNvPr>
          <p:cNvSpPr/>
          <p:nvPr/>
        </p:nvSpPr>
        <p:spPr>
          <a:xfrm>
            <a:off x="2377440" y="3950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CDB13F8-DE7E-A7D7-7F92-49AFA8672F83}"/>
              </a:ext>
            </a:extLst>
          </p:cNvPr>
          <p:cNvSpPr/>
          <p:nvPr/>
        </p:nvSpPr>
        <p:spPr>
          <a:xfrm>
            <a:off x="502920" y="137160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08E5484-AD2F-CB88-B288-BB66AFDD6503}"/>
              </a:ext>
            </a:extLst>
          </p:cNvPr>
          <p:cNvSpPr/>
          <p:nvPr/>
        </p:nvSpPr>
        <p:spPr>
          <a:xfrm>
            <a:off x="704088" y="171907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CDDDDAF-5857-EE3B-1F5A-37F49852FD2F}"/>
              </a:ext>
            </a:extLst>
          </p:cNvPr>
          <p:cNvSpPr/>
          <p:nvPr/>
        </p:nvSpPr>
        <p:spPr>
          <a:xfrm>
            <a:off x="521208" y="190195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F103101-14C9-BD5E-409B-9686CFA8081C}"/>
              </a:ext>
            </a:extLst>
          </p:cNvPr>
          <p:cNvSpPr/>
          <p:nvPr/>
        </p:nvSpPr>
        <p:spPr>
          <a:xfrm>
            <a:off x="521208" y="206654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F97C798-10A2-24A7-6C7F-907BCBD7559F}"/>
              </a:ext>
            </a:extLst>
          </p:cNvPr>
          <p:cNvSpPr/>
          <p:nvPr/>
        </p:nvSpPr>
        <p:spPr>
          <a:xfrm>
            <a:off x="685800" y="206654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35632F2-A99B-67B8-07C4-CDBE44A7A88C}"/>
              </a:ext>
            </a:extLst>
          </p:cNvPr>
          <p:cNvSpPr/>
          <p:nvPr/>
        </p:nvSpPr>
        <p:spPr>
          <a:xfrm>
            <a:off x="932688" y="187452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8AB9E15-F8A3-6680-416F-1E824ECE0A40}"/>
              </a:ext>
            </a:extLst>
          </p:cNvPr>
          <p:cNvSpPr/>
          <p:nvPr/>
        </p:nvSpPr>
        <p:spPr>
          <a:xfrm>
            <a:off x="2743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5179126-73BF-095B-5048-E01F522D9F1D}"/>
              </a:ext>
            </a:extLst>
          </p:cNvPr>
          <p:cNvSpPr/>
          <p:nvPr/>
        </p:nvSpPr>
        <p:spPr>
          <a:xfrm>
            <a:off x="502920" y="256032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F63F862-D849-95B5-346F-C3C1D90B6294}"/>
              </a:ext>
            </a:extLst>
          </p:cNvPr>
          <p:cNvSpPr/>
          <p:nvPr/>
        </p:nvSpPr>
        <p:spPr>
          <a:xfrm>
            <a:off x="704088" y="290779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ACFACE2-A0EF-EFA2-458B-21C2FF1910BB}"/>
              </a:ext>
            </a:extLst>
          </p:cNvPr>
          <p:cNvSpPr/>
          <p:nvPr/>
        </p:nvSpPr>
        <p:spPr>
          <a:xfrm>
            <a:off x="521208" y="309067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C155B4B-A810-CC93-3ADD-FD3F72DB0F31}"/>
              </a:ext>
            </a:extLst>
          </p:cNvPr>
          <p:cNvSpPr/>
          <p:nvPr/>
        </p:nvSpPr>
        <p:spPr>
          <a:xfrm>
            <a:off x="521208" y="325526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EF4813D-12E0-843E-F895-C96E630574DF}"/>
              </a:ext>
            </a:extLst>
          </p:cNvPr>
          <p:cNvSpPr/>
          <p:nvPr/>
        </p:nvSpPr>
        <p:spPr>
          <a:xfrm>
            <a:off x="685800" y="325526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EACC9C8-CEE5-A4AD-9D28-3FEF5261815E}"/>
              </a:ext>
            </a:extLst>
          </p:cNvPr>
          <p:cNvSpPr/>
          <p:nvPr/>
        </p:nvSpPr>
        <p:spPr>
          <a:xfrm>
            <a:off x="932688" y="306324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5D40B25-CC7C-078D-3859-EB4EEC2406E2}"/>
              </a:ext>
            </a:extLst>
          </p:cNvPr>
          <p:cNvSpPr/>
          <p:nvPr/>
        </p:nvSpPr>
        <p:spPr>
          <a:xfrm>
            <a:off x="27432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2B7295B-A70E-2A05-4289-EEEB5D1F5683}"/>
              </a:ext>
            </a:extLst>
          </p:cNvPr>
          <p:cNvSpPr/>
          <p:nvPr/>
        </p:nvSpPr>
        <p:spPr>
          <a:xfrm>
            <a:off x="502920" y="374904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C0C7251-777F-A5B1-FFB2-148CDCC1180D}"/>
              </a:ext>
            </a:extLst>
          </p:cNvPr>
          <p:cNvSpPr/>
          <p:nvPr/>
        </p:nvSpPr>
        <p:spPr>
          <a:xfrm>
            <a:off x="704088" y="409651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55A1720-65B0-C430-5BB8-A9948BF60C55}"/>
              </a:ext>
            </a:extLst>
          </p:cNvPr>
          <p:cNvSpPr/>
          <p:nvPr/>
        </p:nvSpPr>
        <p:spPr>
          <a:xfrm>
            <a:off x="521208" y="427939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A7A07EB-6ADE-C9B7-6954-B2F54C3944B9}"/>
              </a:ext>
            </a:extLst>
          </p:cNvPr>
          <p:cNvSpPr/>
          <p:nvPr/>
        </p:nvSpPr>
        <p:spPr>
          <a:xfrm>
            <a:off x="521208" y="444398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0C7ED7A-2311-9776-8609-7632B8F8F0B2}"/>
              </a:ext>
            </a:extLst>
          </p:cNvPr>
          <p:cNvSpPr/>
          <p:nvPr/>
        </p:nvSpPr>
        <p:spPr>
          <a:xfrm>
            <a:off x="685800" y="444398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99EF70B-B6BF-3AA7-CE47-8F350FCD9CE2}"/>
              </a:ext>
            </a:extLst>
          </p:cNvPr>
          <p:cNvSpPr/>
          <p:nvPr/>
        </p:nvSpPr>
        <p:spPr>
          <a:xfrm>
            <a:off x="932688" y="425196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C465077-2610-8FBD-C591-C0B106590B24}"/>
              </a:ext>
            </a:extLst>
          </p:cNvPr>
          <p:cNvSpPr/>
          <p:nvPr/>
        </p:nvSpPr>
        <p:spPr>
          <a:xfrm>
            <a:off x="2743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2578D30-30C2-491C-D0FE-34FE9F6BECFF}"/>
              </a:ext>
            </a:extLst>
          </p:cNvPr>
          <p:cNvSpPr/>
          <p:nvPr/>
        </p:nvSpPr>
        <p:spPr>
          <a:xfrm>
            <a:off x="7498080" y="2103120"/>
            <a:ext cx="1371600" cy="329184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606EB2E7-32C7-1312-E4B7-30E52F244E52}"/>
              </a:ext>
            </a:extLst>
          </p:cNvPr>
          <p:cNvSpPr/>
          <p:nvPr/>
        </p:nvSpPr>
        <p:spPr>
          <a:xfrm>
            <a:off x="7498080" y="2286000"/>
            <a:ext cx="1371600" cy="8229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B6F0E6CF-89EA-C00B-77E3-A9B17C12D191}"/>
              </a:ext>
            </a:extLst>
          </p:cNvPr>
          <p:cNvSpPr/>
          <p:nvPr/>
        </p:nvSpPr>
        <p:spPr>
          <a:xfrm>
            <a:off x="7498080" y="2944368"/>
            <a:ext cx="1371600" cy="256032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DEF2F1D-9E4B-EDCF-BAF4-0D5A6D9C05E8}"/>
              </a:ext>
            </a:extLst>
          </p:cNvPr>
          <p:cNvSpPr/>
          <p:nvPr/>
        </p:nvSpPr>
        <p:spPr>
          <a:xfrm>
            <a:off x="7269480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«database»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Geo-DB</a:t>
            </a:r>
            <a:endParaRPr lang="en-US" sz="9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BE0F302-D425-FC5C-670E-498E14B9137D}"/>
              </a:ext>
            </a:extLst>
          </p:cNvPr>
          <p:cNvSpPr/>
          <p:nvPr/>
        </p:nvSpPr>
        <p:spPr>
          <a:xfrm>
            <a:off x="7223760" y="265176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1D5BA2D-A11C-5689-2B11-0719737DB06D}"/>
              </a:ext>
            </a:extLst>
          </p:cNvPr>
          <p:cNvSpPr/>
          <p:nvPr/>
        </p:nvSpPr>
        <p:spPr>
          <a:xfrm>
            <a:off x="7406640" y="3858768"/>
            <a:ext cx="16002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E6E2E7EC-EBD6-1FA7-D7EC-5608604B164D}"/>
              </a:ext>
            </a:extLst>
          </p:cNvPr>
          <p:cNvSpPr/>
          <p:nvPr/>
        </p:nvSpPr>
        <p:spPr>
          <a:xfrm>
            <a:off x="7406640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EDB05132-BF6C-E61E-AB55-09D82AD92866}"/>
              </a:ext>
            </a:extLst>
          </p:cNvPr>
          <p:cNvSpPr/>
          <p:nvPr/>
        </p:nvSpPr>
        <p:spPr>
          <a:xfrm>
            <a:off x="7479792" y="4151376"/>
            <a:ext cx="438912" cy="182880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19A537F-BC3C-4915-BB3B-DDA0BCEE6B95}"/>
              </a:ext>
            </a:extLst>
          </p:cNvPr>
          <p:cNvSpPr/>
          <p:nvPr/>
        </p:nvSpPr>
        <p:spPr>
          <a:xfrm>
            <a:off x="7955280" y="41148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0C2B0D1C-4099-3D34-2404-375EF628BACF}"/>
              </a:ext>
            </a:extLst>
          </p:cNvPr>
          <p:cNvSpPr/>
          <p:nvPr/>
        </p:nvSpPr>
        <p:spPr>
          <a:xfrm>
            <a:off x="7479792" y="4370832"/>
            <a:ext cx="438912" cy="16459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3057D28-9B75-17D3-C891-26B26DBF48DC}"/>
              </a:ext>
            </a:extLst>
          </p:cNvPr>
          <p:cNvSpPr/>
          <p:nvPr/>
        </p:nvSpPr>
        <p:spPr>
          <a:xfrm>
            <a:off x="7955280" y="43342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97524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4206240" cy="31089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77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 LEVEL 0  —  Context Diagram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3444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344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1444752"/>
            <a:ext cx="86868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05740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0574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17320" y="2267712"/>
            <a:ext cx="4572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8036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803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17320" y="3090672"/>
            <a:ext cx="101057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207" y="1287649"/>
            <a:ext cx="2103120" cy="1920240"/>
          </a:xfrm>
          <a:prstGeom prst="ellipse">
            <a:avLst/>
          </a:prstGeom>
          <a:solidFill>
            <a:srgbClr val="003D99"/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298448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93592" y="1792643"/>
            <a:ext cx="384048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8204" y="1600619"/>
            <a:ext cx="54864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6736" y="1708295"/>
            <a:ext cx="1271013" cy="211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9913" y="2740882"/>
            <a:ext cx="251406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3906486" y="2527790"/>
            <a:ext cx="54864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3659913" y="2589486"/>
            <a:ext cx="11240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790956"/>
            <a:ext cx="0" cy="4178808"/>
          </a:xfrm>
          <a:prstGeom prst="line">
            <a:avLst/>
          </a:prstGeom>
          <a:noFill/>
          <a:ln w="19050">
            <a:solidFill>
              <a:srgbClr val="D0E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777240"/>
            <a:ext cx="4206240" cy="31089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777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 LEVEL 1  —  Subsystem Decomposition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170432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1704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2487168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8716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03720" y="1170432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1704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Prediction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487168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48716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Visualization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712464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12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Users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03720" y="3712464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712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Datasets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92040" y="431596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315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D3: Predictions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03720" y="431596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4315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D4: Reports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60719" y="2011680"/>
            <a:ext cx="1775197" cy="0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3328416"/>
            <a:ext cx="1775196" cy="0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2011680"/>
            <a:ext cx="0" cy="47548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2011680"/>
            <a:ext cx="0" cy="47548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3328416"/>
            <a:ext cx="0" cy="38404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0" y="3328416"/>
            <a:ext cx="0" cy="38404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0" y="4059936"/>
            <a:ext cx="0" cy="256032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0" y="4059936"/>
            <a:ext cx="0" cy="256032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5344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804672"/>
            <a:ext cx="3200400" cy="250545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71800" y="804672"/>
            <a:ext cx="320040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804672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User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1338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3533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 : string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15727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: string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17922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 : string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20116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 : string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23113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created_at : datetime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2450592"/>
            <a:ext cx="32004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52374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 : bool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27432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logout() : void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29626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updateProfile() : void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2340864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88336"/>
            <a:ext cx="2697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88336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340864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688336"/>
            <a:ext cx="2697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2688336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460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256032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44368"/>
            <a:ext cx="2560320" cy="329184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944368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Admin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2735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admin_id : int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5661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manageUsers() : void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manageDatasets() : void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050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viewReports() : void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2944368"/>
            <a:ext cx="256032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944368"/>
            <a:ext cx="25603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944368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RegularUser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32735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user_type : string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349300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5661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uploadDataset() : void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runPrediction() : void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40050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viewResults() : void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3596429"/>
            <a:ext cx="2743200" cy="8229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596429"/>
            <a:ext cx="2743200" cy="1024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PART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Hierarchy (Inheritance)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44531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on next slide 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PART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Continued from Part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25603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60704"/>
            <a:ext cx="2560320" cy="329184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060704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Dataset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6093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file_name : string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048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upload_date : datetime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description : string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upload() : void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779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delete() : void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060704"/>
            <a:ext cx="25603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060704"/>
            <a:ext cx="2560320" cy="329184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1060704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Prediction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16093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1828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model_id : 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048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result : 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267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prediction_date : datetime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248716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560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run() : void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779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getResult() : string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1060704"/>
            <a:ext cx="25603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060704"/>
            <a:ext cx="2560320" cy="329184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1060704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model_id : 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16093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model_name : string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1828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algorithm : string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2048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accuracy : float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2267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48716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560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train() : void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2779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evaluate() : void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6632" y="3273552"/>
            <a:ext cx="2560320" cy="168423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227306"/>
            <a:ext cx="2560320" cy="32918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21868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Report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36290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report_id : int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7844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39513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file_path : string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097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report_type : string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9184" y="4273927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517136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53479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generate() : void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7336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download() : void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00984" y="3246120"/>
            <a:ext cx="2560320" cy="170535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90684" y="3226885"/>
            <a:ext cx="2560320" cy="329184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46704" y="320040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Visualization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401568" y="35650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viz_id : int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83280" y="3721503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92424" y="3889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chart_type : string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83280" y="4041649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map_data : string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74136" y="41879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91840" y="448113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3280" y="4484055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generateChart() : void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74136" y="466956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generateMap() : void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9360" y="3383280"/>
            <a:ext cx="2560320" cy="13716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34198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00800" y="36941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 1 ──── N  Dataset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400800" y="39319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 1 ──── N  Prediction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00800" y="41696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N ──── 1  Model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0" y="44074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1 ──── N  Report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834640" y="22860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852160" y="22860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geospatial data with latitude, longitude, rainfall, temperature, vegetation index and label columns.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7667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 values → select features → normalize → encode categoricals → generate NDVI → train/test split.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using Scikit-learn; model saved as geo_model.pkl via joblib.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7667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/register, /login (JWT), /predict (file upload + ML inference), /history, /admin.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83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dashboard with file upload, prediction output panel, Chart.js bar chart and Leaflet.js map view.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7667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7667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→ Preprocessing → ML Model → Output. Unit, Integration, System &amp; UAT testing performed.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5214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function &amp; ML model prediction tested independently for correctness.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5214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Flask API + ML model pipeline tested end-to-end with CSV input.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2494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workflow: Upload file → Preprocess → Predict → Visualize — tested as complete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2494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usability, responsive dashboard and prediction history verified from user perspective.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859536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 CSV file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Predictions generated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Handled properly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Invalid format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Error message shown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Large dataset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Processed successfully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LOGIN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with username/password, toggle eye visibility. Clean gradient 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REGISTER PAGE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 form with back-to-login navigation.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HOME / UPLOAD DATASET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Upload 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with CSV file upload, Predict / History / Admin / Logout buttons.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DATA VISUALIZATION &amp; MAP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 panel, Chart.js bar chart (Safe vs Risk) and live Leaflet.js geospatial map view.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78B57-7203-C961-1B9A-C2CAF064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D1402E-F15E-9552-DF61-4B78F500261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2D42BE-E619-730A-38BF-26779F6D6FCC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CDED00-2277-45E5-FEF8-B7D481A8B91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659C72-C9AF-97F2-2372-67009B527C9F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068652-6DCF-3D35-DE5F-958C21266973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3698CD4-B5FD-C5AA-2BF2-E8873D69683C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- 19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555E655-4624-64E7-5EF5-808438761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16412"/>
            <a:ext cx="8595360" cy="402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0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2D1A0-01A2-FC99-E475-5DF3FFA9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8BF5D7-BB3A-D4CA-0CDD-C8E47CA8032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CC5DF6-1ABA-B84F-99E3-15833517E6AA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879891-6C14-06AF-5A7F-61563C094162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0EFB8E-38BF-51A2-2551-A96F4831B2C6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4CAAAF-FF0F-7131-4022-6A4ABABEAF55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58FA989-A7AF-7808-7FB1-327D1231C3AC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C00323-8216-DF7B-4635-97575E16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0904"/>
            <a:ext cx="8641080" cy="40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77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D7C89-994B-2F9E-112F-D2F59C77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F91A1C-6002-20B9-8197-83EE0EBA64D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BB0291-A616-CAD5-9E90-47B40E159F4B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EA54A7-CF11-400E-FCF5-53AA99514C06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A95EBE-F82D-D3F2-C2F8-CD2FD4E44A25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5EC37A-DD71-AA13-BA15-7F76CEF18A7F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D1C12DA-15ED-9C61-7228-444EA822E753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- 21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77C21A-1CD1-270B-B650-30F5A8C88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79"/>
            <a:ext cx="8686800" cy="387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09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974C3-0F22-4C1F-9567-307D229D3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E1CFF7-80E2-3BD3-D07B-041DC9FCF57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941FE9-53A1-1EA8-599E-0DBFF4FED38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79CEE7-B3BC-C43F-0721-3B494184745F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B977F2-8C4B-775D-F93E-29CAB1149F3A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2BF527-0914-3D0C-EB0A-67640B41B57C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A6656D-9AEE-916B-92FA-6989EDEF6AB5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- 22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36656-A72E-4BBA-351D-30778C7A5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13816"/>
            <a:ext cx="8641080" cy="400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76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C967D-11E4-7B82-B95E-E8FD6C6A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9D4AC6-D412-D900-0B5C-B54A38211B4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8FE9B7-4621-06ED-C4BB-571874FADD3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1F660C-A4DE-8BBA-F0DB-F51087697D25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AF0F89-99CB-E965-7DC5-61782A31F08F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8C16DD-5BB3-3B5D-4A0E-F98EE65C0952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64F66A-9EBB-0A7E-3800-FD38DE6796E5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884113-72BA-6996-1845-C2A133F91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68680"/>
            <a:ext cx="8686800" cy="393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16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44A34-5193-E54F-6A95-00698859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BC1775-2602-F3F7-6744-A085B947A79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42A569-1B8F-D887-562B-4F8759B9556C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46ECBA-0759-D70F-F14B-9E474963BAE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DB6AA2-6C8E-E4C0-4463-F1DD28FF2E82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7AEDF6-F148-7ABA-B4B2-D7E3E21C2DB6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5B22128-0548-68C4-072E-CE1154D0F0F6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- 24</a:t>
            </a:r>
            <a:endParaRPr lang="en-US" sz="9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AC77C39F-E814-560C-C953-7F2CEDBEF6CB}"/>
              </a:ext>
            </a:extLst>
          </p:cNvPr>
          <p:cNvSpPr/>
          <p:nvPr/>
        </p:nvSpPr>
        <p:spPr>
          <a:xfrm>
            <a:off x="1249680" y="1603248"/>
            <a:ext cx="6949440" cy="18288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E0397AD-8946-DA56-8B8D-3A5CC74028E9}"/>
              </a:ext>
            </a:extLst>
          </p:cNvPr>
          <p:cNvSpPr/>
          <p:nvPr/>
        </p:nvSpPr>
        <p:spPr>
          <a:xfrm>
            <a:off x="1249680" y="1622298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https://github.com/Sakshi-Srivastava19/geo-ai-project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83077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41248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41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859536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end-to-end Geospatial ML System for environmental risk zone prediction using latitude, longitude, rainfall, temperature and vegetation index.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627632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1645920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web-based interface with ML backend enables seamless dataset upload, real-time prediction and interactive chart &amp; map visualization.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414016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14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2432304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RESTful architecture ensures scalability, flexibility and efficient data flow; JWT authentication provides secure multi-user 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200400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00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218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passed. Model achieves 85% accuracy on the baseline dataset, demonstrating the viability of ML for geospatial analytics.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986784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86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4005072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establishes a strong foundation for geospatial intelligence systems supporting disaster management, agriculture, environmental monitoring and urban planning.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Advanced ML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deep learning architectures; large-scale real-world datasets with hyperparameter tuning.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Full GIS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QGIS/ArcGIS support; raster &amp; vector data processing; DBSCAN/K-Means spatial clustering.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Real-Time Data Feeds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 for weather, satellite imagery and IoT environmental sensor streams.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Explainable AI (XAI)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importance; model interpretability dashboards for transparent decisions.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Cloud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Docker; deploy on AWS/Azure/IBM Cloud for enterprise-grade scalability.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&amp; Governance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control; strong password hashing; data encryption &amp; privacy compliance.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Scikit-learn Documentation – https://scikit-learn.org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Flask Documentation – https://flask.palletsprojects.com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Pandas Documentation – https://pandas.pydata.org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Leaflet Documentation – https://leafletjs.com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Chart.js Documentation – https://www.chartjs.org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Kaggle – Datasets and ML Resources – https://www.kaggle.com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26110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ISRO – Remote Sensing &amp; GIS – https://www.isro.gov.in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IIRS – Online Courses on Remote Sensing &amp; GIS – https://www.iirs.gov.in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Waldo Tobler (1970). A Computer Movie Simulating Urban Growth in the Detroit Region.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Michael F. Goodchild (2007). Citizens as Sensors: The World of Volunteered Geography.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Geospatial ML literature – Research journals &amp; conference papers on spatial data analysis.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TensorFlow/Keras Documentation – https://www.tensorflow.org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HTML5 / JavaScript – Web Standards – https://developer.mozilla.org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 Using Machine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  |  EA2432251010614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 |  SRM Institute of Science and Technology  | 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G. Babu  |  Directorate of Online 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2922</Words>
  <Application>Microsoft Office PowerPoint</Application>
  <PresentationFormat>On-screen Show (16:9)</PresentationFormat>
  <Paragraphs>537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Data Analysis Using Machine Learning</dc:title>
  <dc:subject>PptxGenJS Presentation</dc:subject>
  <dc:creator>PptxGenJS</dc:creator>
  <cp:lastModifiedBy>Sakshi Srivastava</cp:lastModifiedBy>
  <cp:revision>8</cp:revision>
  <dcterms:created xsi:type="dcterms:W3CDTF">2026-05-29T09:13:08Z</dcterms:created>
  <dcterms:modified xsi:type="dcterms:W3CDTF">2026-05-31T05:00:51Z</dcterms:modified>
</cp:coreProperties>
</file>