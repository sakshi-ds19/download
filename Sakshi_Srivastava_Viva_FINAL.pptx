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001240"/>
          </a:solidFill>
          <a:ln w="12700">
            <a:solidFill>
              <a:srgbClr val="0012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606040"/>
            <a:ext cx="9144000" cy="64008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DIRECTORATE OF ONLINE EDUCATION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INSTITUTE OF SCIENCE AND TECHNOLOGY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KATTANKULATHUR – 603 203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IV SEMESTER — PROJECT VIVA VOCE  |  MAY 2026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DATA ANALYSIS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054096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SAKSHI SRIVASTAVA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34015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EA2432251010614 ]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7947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 :  Dr. G. Babu  |  Assistant Professor, Directorate of Online Education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Slide - 1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OF PROJECT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005840"/>
            <a:ext cx="6949440" cy="18288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005840"/>
            <a:ext cx="6949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Data Analysis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97280" y="30175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 :  Dr. G. Babu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3401568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Professor, Directorate of Online Education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Slide - 2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8503920" cy="64008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22960"/>
            <a:ext cx="54864" cy="64008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7782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develops an intelligent, cloud-enabled Geo-AI analytics framework for environmental monitoring, vegetation assessment, and spatial risk prediction using Machine Learning and GIS technologies.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572768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572768"/>
            <a:ext cx="54864" cy="64008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2763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integrates satellite imagery (Sentinel-2, Landsat-8), OpenStreetMap vectors, Digital Elevation Models and ISRO-IIRS datasets to create a unified analytics platform.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2322576"/>
            <a:ext cx="8503920" cy="64008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322576"/>
            <a:ext cx="54864" cy="64008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7744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spatial features extracted include NDVI, Land Surface Temperature (LST), elevation, rainfall, and land use/cover data for supervised ML tasks.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3072384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072384"/>
            <a:ext cx="54864" cy="64008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2724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algorithms — Random Forest, Gradient Boosting, SVM, Decision Trees and CNNs — detect deforestation, urban expansion, vegetation stress and high-risk ecological zones.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3822192"/>
            <a:ext cx="8503920" cy="64008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822192"/>
            <a:ext cx="54864" cy="64008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77056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deployed as Flask + Streamlit cloud web app with JWT authentication, interactive Leaflet.js maps and Chart.js dashboards for real-time decision support.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Slide - 3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60520" cy="3931920"/>
          </a:xfrm>
          <a:prstGeom prst="rect">
            <a:avLst/>
          </a:prstGeom>
          <a:solidFill>
            <a:srgbClr val="F0F7FF"/>
          </a:solidFill>
          <a:ln w="19050">
            <a:solidFill>
              <a:srgbClr val="D0E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4124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17043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analysis is critical for environmental monitoring, disaster management and climate analysis.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84708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systems rely on manual interpretation and static mapping — lacking intelligent prediction.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523744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 enable automatic pattern detection from large spatial datasets.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200400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satellite data availability demands scalable, automated analytics platforms.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804672"/>
            <a:ext cx="4160520" cy="3931920"/>
          </a:xfrm>
          <a:prstGeom prst="rect">
            <a:avLst/>
          </a:prstGeom>
          <a:solidFill>
            <a:srgbClr val="E8F9F4"/>
          </a:solidFill>
          <a:ln w="19050">
            <a:solidFill>
              <a:srgbClr val="B2E8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84124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17043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Geo-AI Analytics Dashboard integrating ML + GIS for environmental risk zone prediction.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184708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upload CSV geospatial datasets and obtain predictions via interactive charts &amp; maps.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2523744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inspired by ISRO-IIRS advanced space research &amp; geospatial intelligence systems.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3200400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Cloud-based, secure, scalable and user-friendly web interface.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Slide - 4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SCOPE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133856"/>
            <a:ext cx="5029200" cy="438912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8872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Develop a system for analyzing geospatial data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645920"/>
            <a:ext cx="5029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00784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Apply ML techniques for environmental prediction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157984"/>
            <a:ext cx="5029200" cy="438912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12848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Automate data preprocessing and feature engineering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670048"/>
            <a:ext cx="5029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2491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Provide a user-friendly interactive web interface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3182112"/>
            <a:ext cx="5029200" cy="438912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36976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Generate accurate and meaningful geospatial results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23560" y="804672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23560" y="115214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23560" y="13898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CSV geospatial datasets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23560" y="16824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classification &amp; prediction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23560" y="19751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visualization of results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23560" y="22677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Agriculture, environment, climate studies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23560" y="263347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23560" y="287121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satellite data processing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23560" y="31638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GIS software integration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Slide - 5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&amp; PROBLEM DESCRIPTION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54864" cy="118872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96112"/>
            <a:ext cx="3995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Intelligent Prediction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170432"/>
            <a:ext cx="3995928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GIS platforms focus on visualization/mapping only — no ML-based predictive environmental analysis.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822960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22960"/>
            <a:ext cx="54864" cy="118872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896112"/>
            <a:ext cx="3995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Scalability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18888" y="1170432"/>
            <a:ext cx="3995928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efficiently handle large satellite imagery, raster datasets and high-dimensional spatial information.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176272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176272"/>
            <a:ext cx="54864" cy="118872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249424"/>
            <a:ext cx="3995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Interactive Visualization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" y="2523744"/>
            <a:ext cx="3995928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lack dynamic dashboards and real-time mapping for effective spatial trend interpretation.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176272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176272"/>
            <a:ext cx="54864" cy="118872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2249424"/>
            <a:ext cx="3995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ML-GIS Integration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18888" y="2523744"/>
            <a:ext cx="3995928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fail to combine spatial analytics with ML models to detect hidden environmental patterns.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529584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529584"/>
            <a:ext cx="54864" cy="118872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602736"/>
            <a:ext cx="3995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Error-Prone Process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4048" y="3877056"/>
            <a:ext cx="3995928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manual intervention required for detecting changes like deforestation and climate risks.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3529584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3529584"/>
            <a:ext cx="54864" cy="118872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8888" y="3602736"/>
            <a:ext cx="3995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Decision Support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18888" y="3877056"/>
            <a:ext cx="3995928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Unable to generate real-time predictions needed for disaster management, agriculture and climate monitoring.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Slide - 6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926080" y="2103120"/>
            <a:ext cx="3291840" cy="9144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21031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Geo-AI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Platform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804672"/>
            <a:ext cx="3840480" cy="1005840"/>
          </a:xfrm>
          <a:prstGeom prst="rect">
            <a:avLst/>
          </a:prstGeom>
          <a:solidFill>
            <a:srgbClr val="F0F7FF"/>
          </a:solidFill>
          <a:ln w="19050">
            <a:solidFill>
              <a:srgbClr val="B0D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804672"/>
            <a:ext cx="54864" cy="100584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" y="8686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Algorithms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" y="1133856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Gradient Boosting · SVM · CNN · Decision Trees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0" y="804672"/>
            <a:ext cx="3840480" cy="1005840"/>
          </a:xfrm>
          <a:prstGeom prst="rect">
            <a:avLst/>
          </a:prstGeom>
          <a:solidFill>
            <a:srgbClr val="F0F7FF"/>
          </a:solidFill>
          <a:ln w="19050">
            <a:solidFill>
              <a:srgbClr val="B0D0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804672"/>
            <a:ext cx="54864" cy="100584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38928" y="8686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38928" y="1133856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· Landsat-8 · OpenStreetMap · DEM · ISRO-IIRS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057400"/>
            <a:ext cx="3840480" cy="1005840"/>
          </a:xfrm>
          <a:prstGeom prst="rect">
            <a:avLst/>
          </a:prstGeom>
          <a:solidFill>
            <a:srgbClr val="F0F7FF"/>
          </a:solidFill>
          <a:ln w="19050">
            <a:solidFill>
              <a:srgbClr val="B0D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2057400"/>
            <a:ext cx="54864" cy="100584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21214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" y="2386584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Georeferencing · Cloud masking · Normalization · NDVI · LST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0" y="2057400"/>
            <a:ext cx="3840480" cy="1005840"/>
          </a:xfrm>
          <a:prstGeom prst="rect">
            <a:avLst/>
          </a:prstGeom>
          <a:solidFill>
            <a:srgbClr val="F0F7FF"/>
          </a:solidFill>
          <a:ln w="19050">
            <a:solidFill>
              <a:srgbClr val="B0D0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0" y="2057400"/>
            <a:ext cx="54864" cy="100584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38928" y="21214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38928" y="2386584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 maps · Chart.js · Interactive dashboards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28600" y="3291840"/>
            <a:ext cx="3840480" cy="1005840"/>
          </a:xfrm>
          <a:prstGeom prst="rect">
            <a:avLst/>
          </a:prstGeom>
          <a:solidFill>
            <a:srgbClr val="F0F7FF"/>
          </a:solidFill>
          <a:ln w="19050">
            <a:solidFill>
              <a:srgbClr val="B0D0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3291840"/>
            <a:ext cx="54864" cy="100584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" y="33558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" y="3621024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Streamlit · JWT Auth · REST API · Cloud-based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0" y="3291840"/>
            <a:ext cx="3840480" cy="1005840"/>
          </a:xfrm>
          <a:prstGeom prst="rect">
            <a:avLst/>
          </a:prstGeom>
          <a:solidFill>
            <a:srgbClr val="F0F7FF"/>
          </a:solidFill>
          <a:ln w="19050">
            <a:solidFill>
              <a:srgbClr val="B0D0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0" y="3291840"/>
            <a:ext cx="54864" cy="100584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38928" y="33558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38928" y="3621024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Agriculture · Disaster Mgmt · Climate Monitoring · Urban Planning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Slide - 7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Requirements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33856"/>
          <a:ext cx="3931920" cy="1828800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Specification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Processor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Intel i3 or above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RAM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Minimum 4 GB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Storage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20 GB Free Space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Internet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Required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754880" y="8046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133856"/>
          <a:ext cx="4114800" cy="310896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</a:tblGrid>
              <a:tr h="345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Specification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Language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Python 3.x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IDE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Visual Studio Code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ML Libraries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Scikit-learn, TensorFlow/Keras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Framework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Flask, Streamlit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Frontend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HTML, CSS, JavaScript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Mapping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Leaflet.js, Chart.js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Data Handling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Pandas, NumPy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Database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JSON-based persistence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3127248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Functional Requirements: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 · CSV Upload · Risk Prediction · Data Visualization · Geospatial Map · Admin Dashboard · JWT Auth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Slide - 8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DESCRIPTION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804672"/>
            <a:ext cx="425196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C0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804672"/>
            <a:ext cx="640080" cy="129844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9611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28600" y="1371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41832" y="859536"/>
            <a:ext cx="3438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 Module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41832" y="1115568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CSV datasets with geospatial parameters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41832" y="1316736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dataset format and structure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" y="1517904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latitude, longitude, rainfall, temperature, NDVI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41832" y="1719072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invalid or corrupted data uploads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68680" y="1920240"/>
            <a:ext cx="3611880" cy="182880"/>
          </a:xfrm>
          <a:prstGeom prst="rect">
            <a:avLst/>
          </a:prstGeom>
          <a:solidFill>
            <a:srgbClr val="E0EEF8"/>
          </a:solidFill>
          <a:ln w="12700">
            <a:solidFill>
              <a:srgbClr val="C0D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" y="1929384"/>
            <a:ext cx="34930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0D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Python · Pandas · Flask/Streamlit upload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4709160" y="804672"/>
            <a:ext cx="425196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C0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804672"/>
            <a:ext cx="640080" cy="129844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89611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4709160" y="1371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22392" y="859536"/>
            <a:ext cx="3438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Module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22392" y="1115568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missing &amp; null values; removes duplicates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22392" y="1316736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normalization, scaling &amp; encoding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22392" y="1517904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extraction: NDVI, LST, elevation, rainfall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22392" y="1719072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data into training and testing sets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349240" y="1920240"/>
            <a:ext cx="3611880" cy="182880"/>
          </a:xfrm>
          <a:prstGeom prst="rect">
            <a:avLst/>
          </a:prstGeom>
          <a:solidFill>
            <a:srgbClr val="E0EEF8"/>
          </a:solidFill>
          <a:ln w="12700">
            <a:solidFill>
              <a:srgbClr val="C0D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04104" y="1929384"/>
            <a:ext cx="34930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0D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Pandas · NumPy · Scikit-learn preprocessing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228600" y="2194560"/>
            <a:ext cx="425196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C0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2194560"/>
            <a:ext cx="640080" cy="129844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22860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228600" y="276148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41832" y="2249424"/>
            <a:ext cx="3438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Module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41832" y="2505456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models on historical environmental data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41832" y="2706624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classification &amp; prediction algorithms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41832" y="2907792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Gradient Boosting · SVM · CNN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41832" y="3108960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Evaluates: Accuracy, F1-Score, RMSE, Confusion Matrix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68680" y="3310128"/>
            <a:ext cx="3611880" cy="182880"/>
          </a:xfrm>
          <a:prstGeom prst="rect">
            <a:avLst/>
          </a:prstGeom>
          <a:solidFill>
            <a:srgbClr val="E0EEF8"/>
          </a:solidFill>
          <a:ln w="12700">
            <a:solidFill>
              <a:srgbClr val="C0D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3544" y="3319272"/>
            <a:ext cx="34930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0D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Scikit-learn · TensorFlow/Keras · Python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4709160" y="2194560"/>
            <a:ext cx="425196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C0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2194560"/>
            <a:ext cx="640080" cy="129844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22860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900" dirty="0"/>
          </a:p>
        </p:txBody>
      </p:sp>
      <p:sp>
        <p:nvSpPr>
          <p:cNvPr id="43" name="Text 41"/>
          <p:cNvSpPr/>
          <p:nvPr/>
        </p:nvSpPr>
        <p:spPr>
          <a:xfrm>
            <a:off x="4709160" y="276148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422392" y="2249424"/>
            <a:ext cx="3438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Module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422392" y="2505456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new environmental input data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422392" y="2706624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trained model for real-time inference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422392" y="2907792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risk levels &amp; vegetation stress zones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422392" y="3108960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risk prediction &amp; classification results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349240" y="3310128"/>
            <a:ext cx="3611880" cy="182880"/>
          </a:xfrm>
          <a:prstGeom prst="rect">
            <a:avLst/>
          </a:prstGeom>
          <a:solidFill>
            <a:srgbClr val="E0EEF8"/>
          </a:solidFill>
          <a:ln w="12700">
            <a:solidFill>
              <a:srgbClr val="C0D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04104" y="3319272"/>
            <a:ext cx="34930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0D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joblib (model loading) · Flask API · Python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228600" y="3584448"/>
            <a:ext cx="425196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C0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28600" y="3584448"/>
            <a:ext cx="640080" cy="129844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28600" y="36758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900" dirty="0"/>
          </a:p>
        </p:txBody>
      </p:sp>
      <p:sp>
        <p:nvSpPr>
          <p:cNvPr id="54" name="Text 52"/>
          <p:cNvSpPr/>
          <p:nvPr/>
        </p:nvSpPr>
        <p:spPr>
          <a:xfrm>
            <a:off x="228600" y="415137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941832" y="3639312"/>
            <a:ext cx="3438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Module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41832" y="3895344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interactive geospatial Leaflet.js maps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941832" y="4096512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Chart.js charts and statistical graphs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941832" y="4297680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spatial risk mapping &amp; prediction layers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941832" y="4498848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Visualizes distributions &amp; trend analysis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868680" y="4700016"/>
            <a:ext cx="3611880" cy="182880"/>
          </a:xfrm>
          <a:prstGeom prst="rect">
            <a:avLst/>
          </a:prstGeom>
          <a:solidFill>
            <a:srgbClr val="E0EEF8"/>
          </a:solidFill>
          <a:ln w="12700">
            <a:solidFill>
              <a:srgbClr val="C0D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23544" y="4709160"/>
            <a:ext cx="34930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0D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Leaflet.js · Chart.js · Matplotlib · Plotly</a:t>
            </a:r>
            <a:endParaRPr lang="en-US" sz="820" dirty="0"/>
          </a:p>
        </p:txBody>
      </p:sp>
      <p:sp>
        <p:nvSpPr>
          <p:cNvPr id="62" name="Shape 60"/>
          <p:cNvSpPr/>
          <p:nvPr/>
        </p:nvSpPr>
        <p:spPr>
          <a:xfrm>
            <a:off x="4709160" y="3584448"/>
            <a:ext cx="425196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C0D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709160" y="3584448"/>
            <a:ext cx="640080" cy="129844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09160" y="36758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900" dirty="0"/>
          </a:p>
        </p:txBody>
      </p:sp>
      <p:sp>
        <p:nvSpPr>
          <p:cNvPr id="65" name="Text 63"/>
          <p:cNvSpPr/>
          <p:nvPr/>
        </p:nvSpPr>
        <p:spPr>
          <a:xfrm>
            <a:off x="4709160" y="415137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5422392" y="3639312"/>
            <a:ext cx="3438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Module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5422392" y="3895344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web dashboard with real-time display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422392" y="4096512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JWT login &amp; session management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5422392" y="4297680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upload, Admin panel &amp; prediction history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5422392" y="4498848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design requiring no technical expertise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349240" y="4700016"/>
            <a:ext cx="3611880" cy="182880"/>
          </a:xfrm>
          <a:prstGeom prst="rect">
            <a:avLst/>
          </a:prstGeom>
          <a:solidFill>
            <a:srgbClr val="E0EEF8"/>
          </a:solidFill>
          <a:ln w="12700">
            <a:solidFill>
              <a:srgbClr val="C0D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404104" y="4709160"/>
            <a:ext cx="34930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0D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HTML · CSS · JavaScript · Flask · Streamlit</a:t>
            </a:r>
            <a:endParaRPr lang="en-US" sz="820" dirty="0"/>
          </a:p>
        </p:txBody>
      </p:sp>
      <p:sp>
        <p:nvSpPr>
          <p:cNvPr id="73" name="Text 71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Slide - 9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DESCRIPTION — DATA FLOW &amp; RESPONSIBILITIES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786384"/>
            <a:ext cx="1280160" cy="56692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78638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554480" y="1069848"/>
            <a:ext cx="164592" cy="0"/>
          </a:xfrm>
          <a:prstGeom prst="line">
            <a:avLst/>
          </a:prstGeom>
          <a:noFill/>
          <a:ln w="25400">
            <a:solidFill>
              <a:srgbClr val="00AA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64208" y="950976"/>
            <a:ext cx="1097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37360" y="786384"/>
            <a:ext cx="1280160" cy="566928"/>
          </a:xfrm>
          <a:prstGeom prst="rect">
            <a:avLst/>
          </a:prstGeom>
          <a:solidFill>
            <a:srgbClr val="003D99"/>
          </a:solidFill>
          <a:ln w="12700">
            <a:solidFill>
              <a:srgbClr val="003D9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737360" y="78638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17520" y="1069848"/>
            <a:ext cx="164592" cy="0"/>
          </a:xfrm>
          <a:prstGeom prst="line">
            <a:avLst/>
          </a:prstGeom>
          <a:noFill/>
          <a:ln w="25400">
            <a:solidFill>
              <a:srgbClr val="00AA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27248" y="950976"/>
            <a:ext cx="1097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786384"/>
            <a:ext cx="1280160" cy="566928"/>
          </a:xfrm>
          <a:prstGeom prst="rect">
            <a:avLst/>
          </a:prstGeom>
          <a:solidFill>
            <a:srgbClr val="0D7A9E"/>
          </a:solidFill>
          <a:ln w="12700">
            <a:solidFill>
              <a:srgbClr val="0D7A9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0" y="78638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80560" y="1069848"/>
            <a:ext cx="164592" cy="0"/>
          </a:xfrm>
          <a:prstGeom prst="line">
            <a:avLst/>
          </a:prstGeom>
          <a:noFill/>
          <a:ln w="25400">
            <a:solidFill>
              <a:srgbClr val="00AA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0288" y="950976"/>
            <a:ext cx="1097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786384"/>
            <a:ext cx="1280160" cy="566928"/>
          </a:xfrm>
          <a:prstGeom prst="rect">
            <a:avLst/>
          </a:prstGeom>
          <a:solidFill>
            <a:srgbClr val="189AB4"/>
          </a:solidFill>
          <a:ln w="12700">
            <a:solidFill>
              <a:srgbClr val="189AB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78638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3600" y="1069848"/>
            <a:ext cx="164592" cy="0"/>
          </a:xfrm>
          <a:prstGeom prst="line">
            <a:avLst/>
          </a:prstGeom>
          <a:noFill/>
          <a:ln w="25400">
            <a:solidFill>
              <a:srgbClr val="00AA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53328" y="950976"/>
            <a:ext cx="1097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786384"/>
            <a:ext cx="1280160" cy="566928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26480" y="78638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406640" y="1069848"/>
            <a:ext cx="164592" cy="0"/>
          </a:xfrm>
          <a:prstGeom prst="line">
            <a:avLst/>
          </a:prstGeom>
          <a:noFill/>
          <a:ln w="25400">
            <a:solidFill>
              <a:srgbClr val="00AA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16368" y="950976"/>
            <a:ext cx="1097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589520" y="786384"/>
            <a:ext cx="1280160" cy="566928"/>
          </a:xfrm>
          <a:prstGeom prst="rect">
            <a:avLst/>
          </a:prstGeom>
          <a:solidFill>
            <a:srgbClr val="00916E"/>
          </a:solidFill>
          <a:ln w="12700">
            <a:solidFill>
              <a:srgbClr val="00916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589520" y="78638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Reports</a:t>
            </a:r>
            <a:endParaRPr 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81328"/>
          <a:ext cx="4206240" cy="192024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</a:tblGrid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Responsibility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Input → Output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1F54"/>
                          </a:solidFill>
                        </a:rPr>
                        <a:t>Data Input Module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Accepts CSV · Validates attributes · Blocks corrupt files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7A9E"/>
                          </a:solidFill>
                        </a:rPr>
                        <a:t>Raw CSV → Validated DataFrame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1F54"/>
                          </a:solidFill>
                        </a:rPr>
                        <a:t>Preprocessing Module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Fill nulls · Normalize · Encode · Feature extract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7A9E"/>
                          </a:solidFill>
                        </a:rPr>
                        <a:t>Raw DataFrame → Clean feature matrix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1F54"/>
                          </a:solidFill>
                        </a:rPr>
                        <a:t>ML Module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Train Random Forest · Evaluate · Save model.pkl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7A9E"/>
                          </a:solidFill>
                        </a:rPr>
                        <a:t>Feature matrix → Trained ML model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81328"/>
          <a:ext cx="4206240" cy="192024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</a:tblGrid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Responsibility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Input → Output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1F54"/>
                          </a:solidFill>
                        </a:rPr>
                        <a:t>Prediction Module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Load model · Run inference · Return risk labels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7A9E"/>
                          </a:solidFill>
                        </a:rPr>
                        <a:t>New CSV input → Prediction JSON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1F54"/>
                          </a:solidFill>
                        </a:rPr>
                        <a:t>Visualization Module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Render Leaflet.js map · Chart.js graphs · Reports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7A9E"/>
                          </a:solidFill>
                        </a:rPr>
                        <a:t>Predictions → Interactive dashboard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1F54"/>
                          </a:solidFill>
                        </a:rPr>
                        <a:t>User Interface Module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JWT auth · File upload · Display results · Admin panel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7A9E"/>
                          </a:solidFill>
                        </a:rPr>
                        <a:t>User actions → Web dashboard response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</a:tbl>
          </a:graphicData>
        </a:graphic>
      </p:graphicFrame>
      <p:sp>
        <p:nvSpPr>
          <p:cNvPr id="31" name="Shape 27"/>
          <p:cNvSpPr/>
          <p:nvPr/>
        </p:nvSpPr>
        <p:spPr>
          <a:xfrm>
            <a:off x="274320" y="3547872"/>
            <a:ext cx="8595360" cy="502920"/>
          </a:xfrm>
          <a:prstGeom prst="rect">
            <a:avLst/>
          </a:prstGeom>
          <a:solidFill>
            <a:srgbClr val="E8F4FD"/>
          </a:solidFill>
          <a:ln w="19050">
            <a:solidFill>
              <a:srgbClr val="00AAF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11480" y="3566160"/>
            <a:ext cx="8366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Module Integration:  Frontend UI  →  Flask REST API  →  Preprocessing  →  ML Model  →  Prediction Engine  →  Visualization Dashboard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274320" y="4133088"/>
            <a:ext cx="8595360" cy="603504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11480" y="4169664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Requirements:  Performance  ·  Reliability  ·  Usability  ·  Security  ·  Scalability  ·  Compatibility  ·  Maintainability  ·  Portability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Slide - 10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Slide - 11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03120" y="786384"/>
            <a:ext cx="5120640" cy="4041648"/>
          </a:xfrm>
          <a:prstGeom prst="rect">
            <a:avLst/>
          </a:prstGeom>
          <a:solidFill>
            <a:srgbClr val="F0F7FF"/>
          </a:solidFill>
          <a:ln w="19050">
            <a:solidFill>
              <a:srgbClr val="A8C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0" y="786384"/>
            <a:ext cx="5120640" cy="329184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786384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«system»  Geo-AI Analytics Dashboard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77440" y="1170432"/>
            <a:ext cx="4572000" cy="292608"/>
          </a:xfrm>
          <a:prstGeom prst="ellipse">
            <a:avLst/>
          </a:prstGeom>
          <a:solidFill>
            <a:srgbClr val="DDEEFF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117043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377440" y="1517904"/>
            <a:ext cx="4572000" cy="292608"/>
          </a:xfrm>
          <a:prstGeom prst="ellipse">
            <a:avLst/>
          </a:prstGeom>
          <a:solidFill>
            <a:srgbClr val="DDEEFF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15179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377440" y="1865376"/>
            <a:ext cx="4572000" cy="292608"/>
          </a:xfrm>
          <a:prstGeom prst="ellipse">
            <a:avLst/>
          </a:prstGeom>
          <a:solidFill>
            <a:srgbClr val="DDEEFF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186537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Dataset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377440" y="2212848"/>
            <a:ext cx="4572000" cy="292608"/>
          </a:xfrm>
          <a:prstGeom prst="ellipse">
            <a:avLst/>
          </a:prstGeom>
          <a:solidFill>
            <a:srgbClr val="DDEEFF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0" y="221284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Datasets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377440" y="2560320"/>
            <a:ext cx="4572000" cy="292608"/>
          </a:xfrm>
          <a:prstGeom prst="ellipse">
            <a:avLst/>
          </a:prstGeom>
          <a:solidFill>
            <a:srgbClr val="DDEEFF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25603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Prediction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377440" y="2907792"/>
            <a:ext cx="4572000" cy="292608"/>
          </a:xfrm>
          <a:prstGeom prst="ellipse">
            <a:avLst/>
          </a:prstGeom>
          <a:solidFill>
            <a:srgbClr val="DDEEFF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0" y="29077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Results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377440" y="3255264"/>
            <a:ext cx="4572000" cy="292608"/>
          </a:xfrm>
          <a:prstGeom prst="ellipse">
            <a:avLst/>
          </a:prstGeom>
          <a:solidFill>
            <a:srgbClr val="DDEEFF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77440" y="325526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Reports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377440" y="3602736"/>
            <a:ext cx="4572000" cy="292608"/>
          </a:xfrm>
          <a:prstGeom prst="ellipse">
            <a:avLst/>
          </a:prstGeom>
          <a:solidFill>
            <a:srgbClr val="DDEEFF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77440" y="360273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Reports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377440" y="3950208"/>
            <a:ext cx="4572000" cy="292608"/>
          </a:xfrm>
          <a:prstGeom prst="ellipse">
            <a:avLst/>
          </a:prstGeom>
          <a:solidFill>
            <a:srgbClr val="DDEEFF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77440" y="395020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1371600"/>
            <a:ext cx="411480" cy="347472"/>
          </a:xfrm>
          <a:prstGeom prst="ellipse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4088" y="1719072"/>
            <a:ext cx="0" cy="347472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1208" y="1901952"/>
            <a:ext cx="365760" cy="0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1208" y="2066544"/>
            <a:ext cx="164592" cy="182880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2066544"/>
            <a:ext cx="164592" cy="182880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32688" y="1874520"/>
            <a:ext cx="1170432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2286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02920" y="2560320"/>
            <a:ext cx="411480" cy="347472"/>
          </a:xfrm>
          <a:prstGeom prst="ellipse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4088" y="2907792"/>
            <a:ext cx="0" cy="347472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21208" y="3090672"/>
            <a:ext cx="365760" cy="0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21208" y="3255264"/>
            <a:ext cx="164592" cy="182880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" y="3255264"/>
            <a:ext cx="164592" cy="182880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32688" y="3063240"/>
            <a:ext cx="1170432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3474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02920" y="3749040"/>
            <a:ext cx="411480" cy="347472"/>
          </a:xfrm>
          <a:prstGeom prst="ellipse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04088" y="4096512"/>
            <a:ext cx="0" cy="347472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1208" y="4279392"/>
            <a:ext cx="365760" cy="0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21208" y="4443984"/>
            <a:ext cx="164592" cy="182880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" y="4443984"/>
            <a:ext cx="164592" cy="182880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32688" y="4251960"/>
            <a:ext cx="1170432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498080" y="2103120"/>
            <a:ext cx="1371600" cy="329184"/>
          </a:xfrm>
          <a:prstGeom prst="ellipse">
            <a:avLst/>
          </a:prstGeom>
          <a:solidFill>
            <a:srgbClr val="003D99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498080" y="2286000"/>
            <a:ext cx="1371600" cy="82296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498080" y="2944368"/>
            <a:ext cx="1371600" cy="256032"/>
          </a:xfrm>
          <a:prstGeom prst="ellipse">
            <a:avLst/>
          </a:prstGeom>
          <a:solidFill>
            <a:srgbClr val="003D99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69480" y="32735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«database»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Geo-DB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223760" y="2651760"/>
            <a:ext cx="274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7406640" y="3858768"/>
            <a:ext cx="1600200" cy="77724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06640" y="385876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479792" y="4151376"/>
            <a:ext cx="438912" cy="182880"/>
          </a:xfrm>
          <a:prstGeom prst="ellipse">
            <a:avLst/>
          </a:prstGeom>
          <a:solidFill>
            <a:srgbClr val="DDEEFF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955280" y="411480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479792" y="4370832"/>
            <a:ext cx="438912" cy="16459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955280" y="433425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 / FLOWCHART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Slide - 12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749040" y="804672"/>
            <a:ext cx="1645920" cy="365760"/>
          </a:xfrm>
          <a:prstGeom prst="ellipse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80467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170432"/>
            <a:ext cx="0" cy="109728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2272" y="1143000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017520" y="1280160"/>
            <a:ext cx="3108960" cy="402336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17520" y="1280160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Admin Login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682496"/>
            <a:ext cx="0" cy="109728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62272" y="1655064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17520" y="1792224"/>
            <a:ext cx="3108960" cy="402336"/>
          </a:xfrm>
          <a:prstGeom prst="rect">
            <a:avLst/>
          </a:prstGeom>
          <a:solidFill>
            <a:srgbClr val="003D99"/>
          </a:solidFill>
          <a:ln w="12700">
            <a:solidFill>
              <a:srgbClr val="003D9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017520" y="1792224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User?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49440" y="1792224"/>
            <a:ext cx="1965960" cy="402336"/>
          </a:xfrm>
          <a:prstGeom prst="rect">
            <a:avLst/>
          </a:prstGeom>
          <a:solidFill>
            <a:srgbClr val="E17055"/>
          </a:solidFill>
          <a:ln w="12700">
            <a:solidFill>
              <a:srgbClr val="E170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1792224"/>
            <a:ext cx="1965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Denied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1993392"/>
            <a:ext cx="822960" cy="0"/>
          </a:xfrm>
          <a:prstGeom prst="line">
            <a:avLst/>
          </a:prstGeom>
          <a:noFill/>
          <a:ln w="19050">
            <a:solidFill>
              <a:srgbClr val="E170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63056" y="162763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724912" y="1993392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0" y="2194560"/>
            <a:ext cx="0" cy="109728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62272" y="2167128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834640" y="2304288"/>
            <a:ext cx="347472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834640" y="230428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CSV Dataset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2706624"/>
            <a:ext cx="0" cy="109728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62272" y="2679192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60320" y="2816352"/>
            <a:ext cx="4023360" cy="402336"/>
          </a:xfrm>
          <a:prstGeom prst="rect">
            <a:avLst/>
          </a:prstGeom>
          <a:solidFill>
            <a:srgbClr val="0D7A9E"/>
          </a:solidFill>
          <a:ln w="12700">
            <a:solidFill>
              <a:srgbClr val="0D7A9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560320" y="2816352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Feature Engineering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3218688"/>
            <a:ext cx="0" cy="109728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62272" y="3191256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834640" y="3328416"/>
            <a:ext cx="3474720" cy="402336"/>
          </a:xfrm>
          <a:prstGeom prst="rect">
            <a:avLst/>
          </a:prstGeom>
          <a:solidFill>
            <a:srgbClr val="189AB4"/>
          </a:solidFill>
          <a:ln w="12700">
            <a:solidFill>
              <a:srgbClr val="189AB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834640" y="3328416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Load ML Model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3730752"/>
            <a:ext cx="0" cy="109728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62272" y="3703320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560320" y="3840480"/>
            <a:ext cx="4023360" cy="402336"/>
          </a:xfrm>
          <a:prstGeom prst="rect">
            <a:avLst/>
          </a:prstGeom>
          <a:solidFill>
            <a:srgbClr val="1AABB5"/>
          </a:solidFill>
          <a:ln w="12700">
            <a:solidFill>
              <a:srgbClr val="1AABB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560320" y="384048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Environmental Predictions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0" y="4242816"/>
            <a:ext cx="0" cy="109728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62272" y="4215384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0" y="4352544"/>
            <a:ext cx="3657600" cy="402336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743200" y="4352544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Results (Charts + Maps)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0" y="4754880"/>
            <a:ext cx="0" cy="109728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62272" y="4727448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834640" y="4864608"/>
            <a:ext cx="3474720" cy="402336"/>
          </a:xfrm>
          <a:prstGeom prst="rect">
            <a:avLst/>
          </a:prstGeom>
          <a:solidFill>
            <a:srgbClr val="00916E"/>
          </a:solidFill>
          <a:ln w="12700">
            <a:solidFill>
              <a:srgbClr val="00916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834640" y="486460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/ Export Reports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0" y="5266944"/>
            <a:ext cx="0" cy="109728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62272" y="5239512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749040" y="5376672"/>
            <a:ext cx="1645920" cy="365760"/>
          </a:xfrm>
          <a:prstGeom prst="ellipse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3749040" y="537667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 (DFD)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Slide - 13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77240"/>
            <a:ext cx="4206240" cy="310896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77724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 LEVEL 0  —  Context Diagram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234440"/>
            <a:ext cx="1188720" cy="420624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23444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417320" y="1444752"/>
            <a:ext cx="457200" cy="0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2057400"/>
            <a:ext cx="1188720" cy="420624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05740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417320" y="2267712"/>
            <a:ext cx="457200" cy="0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2880360"/>
            <a:ext cx="1188720" cy="420624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88036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417320" y="3090672"/>
            <a:ext cx="457200" cy="0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74520" y="1298448"/>
            <a:ext cx="2103120" cy="1920240"/>
          </a:xfrm>
          <a:prstGeom prst="ellipse">
            <a:avLst/>
          </a:prstGeom>
          <a:solidFill>
            <a:srgbClr val="003D99"/>
          </a:solidFill>
          <a:ln w="31750">
            <a:solidFill>
              <a:srgbClr val="00AA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74520" y="1298448"/>
            <a:ext cx="2103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GEO-AI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977640" y="1783080"/>
            <a:ext cx="384048" cy="0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49040" y="1572768"/>
            <a:ext cx="548640" cy="384048"/>
          </a:xfrm>
          <a:prstGeom prst="rect">
            <a:avLst/>
          </a:prstGeom>
          <a:solidFill>
            <a:srgbClr val="E8F4FD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14813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977640" y="2697480"/>
            <a:ext cx="384048" cy="0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49040" y="2487168"/>
            <a:ext cx="548640" cy="384048"/>
          </a:xfrm>
          <a:prstGeom prst="rect">
            <a:avLst/>
          </a:prstGeom>
          <a:solidFill>
            <a:srgbClr val="E8F4FD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23957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17720" y="777240"/>
            <a:ext cx="0" cy="4178808"/>
          </a:xfrm>
          <a:prstGeom prst="line">
            <a:avLst/>
          </a:prstGeom>
          <a:noFill/>
          <a:ln w="19050">
            <a:solidFill>
              <a:srgbClr val="D0E0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777240"/>
            <a:ext cx="4206240" cy="310896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77724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 LEVEL 1  —  Subsystem Decomposition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1170432"/>
            <a:ext cx="1737360" cy="841248"/>
          </a:xfrm>
          <a:prstGeom prst="ellipse">
            <a:avLst/>
          </a:prstGeom>
          <a:solidFill>
            <a:srgbClr val="003D99"/>
          </a:solidFill>
          <a:ln w="19050">
            <a:solidFill>
              <a:srgbClr val="00AA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1170432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User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92040" y="2487168"/>
            <a:ext cx="1737360" cy="841248"/>
          </a:xfrm>
          <a:prstGeom prst="ellipse">
            <a:avLst/>
          </a:prstGeom>
          <a:solidFill>
            <a:srgbClr val="003D99"/>
          </a:solidFill>
          <a:ln w="19050">
            <a:solidFill>
              <a:srgbClr val="00AA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487168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 Data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903720" y="1170432"/>
            <a:ext cx="1737360" cy="841248"/>
          </a:xfrm>
          <a:prstGeom prst="ellipse">
            <a:avLst/>
          </a:prstGeom>
          <a:solidFill>
            <a:srgbClr val="003D99"/>
          </a:solidFill>
          <a:ln w="19050">
            <a:solidFill>
              <a:srgbClr val="00AA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03720" y="1170432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 Prediction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903720" y="2487168"/>
            <a:ext cx="1737360" cy="841248"/>
          </a:xfrm>
          <a:prstGeom prst="ellipse">
            <a:avLst/>
          </a:prstGeom>
          <a:solidFill>
            <a:srgbClr val="003D99"/>
          </a:solidFill>
          <a:ln w="19050">
            <a:solidFill>
              <a:srgbClr val="00AA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03720" y="2487168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 Visualization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Reports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92040" y="3712464"/>
            <a:ext cx="1737360" cy="347472"/>
          </a:xfrm>
          <a:prstGeom prst="rect">
            <a:avLst/>
          </a:prstGeom>
          <a:solidFill>
            <a:srgbClr val="E8F4FD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71246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D1: Users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903720" y="3712464"/>
            <a:ext cx="1737360" cy="347472"/>
          </a:xfrm>
          <a:prstGeom prst="rect">
            <a:avLst/>
          </a:prstGeom>
          <a:solidFill>
            <a:srgbClr val="E8F4FD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03720" y="371246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D2: Datasets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892040" y="4315968"/>
            <a:ext cx="1737360" cy="347472"/>
          </a:xfrm>
          <a:prstGeom prst="rect">
            <a:avLst/>
          </a:prstGeom>
          <a:solidFill>
            <a:srgbClr val="E8F4FD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43159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D3: Predictions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903720" y="4315968"/>
            <a:ext cx="1737360" cy="347472"/>
          </a:xfrm>
          <a:prstGeom prst="rect">
            <a:avLst/>
          </a:prstGeom>
          <a:solidFill>
            <a:srgbClr val="E8F4FD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03720" y="43159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D4: Reports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760720" y="2011680"/>
            <a:ext cx="1143000" cy="0"/>
          </a:xfrm>
          <a:prstGeom prst="line">
            <a:avLst/>
          </a:prstGeom>
          <a:noFill/>
          <a:ln w="12700">
            <a:solidFill>
              <a:srgbClr val="00AA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60720" y="3328416"/>
            <a:ext cx="1143000" cy="0"/>
          </a:xfrm>
          <a:prstGeom prst="line">
            <a:avLst/>
          </a:prstGeom>
          <a:noFill/>
          <a:ln w="12700">
            <a:solidFill>
              <a:srgbClr val="00AA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60720" y="2011680"/>
            <a:ext cx="0" cy="475488"/>
          </a:xfrm>
          <a:prstGeom prst="line">
            <a:avLst/>
          </a:prstGeom>
          <a:noFill/>
          <a:ln w="12700">
            <a:solidFill>
              <a:srgbClr val="00AA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772400" y="2011680"/>
            <a:ext cx="0" cy="475488"/>
          </a:xfrm>
          <a:prstGeom prst="line">
            <a:avLst/>
          </a:prstGeom>
          <a:noFill/>
          <a:ln w="12700">
            <a:solidFill>
              <a:srgbClr val="00AA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760720" y="3328416"/>
            <a:ext cx="0" cy="384048"/>
          </a:xfrm>
          <a:prstGeom prst="line">
            <a:avLst/>
          </a:prstGeom>
          <a:noFill/>
          <a:ln w="12700">
            <a:solidFill>
              <a:srgbClr val="00AA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772400" y="3328416"/>
            <a:ext cx="0" cy="384048"/>
          </a:xfrm>
          <a:prstGeom prst="line">
            <a:avLst/>
          </a:prstGeom>
          <a:noFill/>
          <a:ln w="12700">
            <a:solidFill>
              <a:srgbClr val="00AA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0" y="4059936"/>
            <a:ext cx="0" cy="256032"/>
          </a:xfrm>
          <a:prstGeom prst="line">
            <a:avLst/>
          </a:prstGeom>
          <a:noFill/>
          <a:ln w="12700">
            <a:solidFill>
              <a:srgbClr val="00AA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772400" y="4059936"/>
            <a:ext cx="0" cy="256032"/>
          </a:xfrm>
          <a:prstGeom prst="line">
            <a:avLst/>
          </a:prstGeom>
          <a:noFill/>
          <a:ln w="12700">
            <a:solidFill>
              <a:srgbClr val="00AAFF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  —  PART 1 : User Hierarchy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Slide - 14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0" y="804672"/>
            <a:ext cx="3657600" cy="2551176"/>
          </a:xfrm>
          <a:prstGeom prst="rect">
            <a:avLst/>
          </a:prstGeom>
          <a:solidFill>
            <a:srgbClr val="FFFFFF"/>
          </a:solidFill>
          <a:ln w="19050">
            <a:solidFill>
              <a:srgbClr val="A8C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0" y="804672"/>
            <a:ext cx="3657600" cy="329184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80467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«class»  User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834640" y="113385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user_id : int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834640" y="136245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name : string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834640" y="159105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email : string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834640" y="181965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password : string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834640" y="204825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role : string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834640" y="227685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created_at : datetime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0" y="2542032"/>
            <a:ext cx="3657600" cy="0"/>
          </a:xfrm>
          <a:prstGeom prst="line">
            <a:avLst/>
          </a:prstGeom>
          <a:noFill/>
          <a:ln w="9525">
            <a:solidFill>
              <a:srgbClr val="A8C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259689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login() : bool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834640" y="282549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logout() : void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834640" y="305409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updateProfile() : void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3355848"/>
            <a:ext cx="0" cy="25603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08760" y="3611880"/>
            <a:ext cx="612648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08760" y="3611880"/>
            <a:ext cx="0" cy="27432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35240" y="3611880"/>
            <a:ext cx="0" cy="27432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34290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&lt;&lt;extends&gt;&gt;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28600" y="3886200"/>
            <a:ext cx="2606040" cy="1408176"/>
          </a:xfrm>
          <a:prstGeom prst="rect">
            <a:avLst/>
          </a:prstGeom>
          <a:solidFill>
            <a:srgbClr val="FFFFFF"/>
          </a:solidFill>
          <a:ln w="19050">
            <a:solidFill>
              <a:srgbClr val="A8C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3886200"/>
            <a:ext cx="2606040" cy="329184"/>
          </a:xfrm>
          <a:prstGeom prst="rect">
            <a:avLst/>
          </a:prstGeom>
          <a:solidFill>
            <a:srgbClr val="003D99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388620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«class»  Admin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0040" y="4215384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admin_id : int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28600" y="4480560"/>
            <a:ext cx="2606040" cy="0"/>
          </a:xfrm>
          <a:prstGeom prst="line">
            <a:avLst/>
          </a:prstGeom>
          <a:noFill/>
          <a:ln w="9525">
            <a:solidFill>
              <a:srgbClr val="A8C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535424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manageUsers() : void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0040" y="4764024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manageDatasets() : void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20040" y="4992624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viewReports() : void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309360" y="3886200"/>
            <a:ext cx="2606040" cy="1408176"/>
          </a:xfrm>
          <a:prstGeom prst="rect">
            <a:avLst/>
          </a:prstGeom>
          <a:solidFill>
            <a:srgbClr val="FFFFFF"/>
          </a:solidFill>
          <a:ln w="19050">
            <a:solidFill>
              <a:srgbClr val="A8C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09360" y="3886200"/>
            <a:ext cx="2606040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388620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«class»  RegularUser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00800" y="4215384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user_type : string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09360" y="4480560"/>
            <a:ext cx="2606040" cy="0"/>
          </a:xfrm>
          <a:prstGeom prst="line">
            <a:avLst/>
          </a:prstGeom>
          <a:noFill/>
          <a:ln w="9525">
            <a:solidFill>
              <a:srgbClr val="A8C8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4535424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uploadDataset() : void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00800" y="4764024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runPrediction() : void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400800" y="4992624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viewResults() : void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926080" y="4160520"/>
            <a:ext cx="3291840" cy="566928"/>
          </a:xfrm>
          <a:prstGeom prst="rect">
            <a:avLst/>
          </a:prstGeom>
          <a:solidFill>
            <a:srgbClr val="F0F7FF"/>
          </a:solidFill>
          <a:ln w="12700">
            <a:solidFill>
              <a:srgbClr val="D0E0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26080" y="416052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 — Part 1 of 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926080" y="443484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on next slide →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  —  PART 2 : Domain Classes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Slide - 15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80467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Continued from Part 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060704"/>
            <a:ext cx="27432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A8C8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060704"/>
            <a:ext cx="2743200" cy="329184"/>
          </a:xfrm>
          <a:prstGeom prst="rect">
            <a:avLst/>
          </a:prstGeom>
          <a:solidFill>
            <a:srgbClr val="0D7A9E"/>
          </a:solidFill>
          <a:ln w="12700">
            <a:solidFill>
              <a:srgbClr val="0D7A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06070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«class»  Dataset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1389888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dataset_id : int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1609344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user_id : int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1828800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file_name : string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" y="2048256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upload_date : datetime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2267712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description : string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2523744"/>
            <a:ext cx="2743200" cy="0"/>
          </a:xfrm>
          <a:prstGeom prst="line">
            <a:avLst/>
          </a:prstGeom>
          <a:noFill/>
          <a:ln w="9525">
            <a:solidFill>
              <a:srgbClr val="A8C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578608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upload() : void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" y="2798064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delete() : void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1060704"/>
            <a:ext cx="27432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A8C8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1060704"/>
            <a:ext cx="2743200" cy="329184"/>
          </a:xfrm>
          <a:prstGeom prst="rect">
            <a:avLst/>
          </a:prstGeom>
          <a:solidFill>
            <a:srgbClr val="189AB4"/>
          </a:solidFill>
          <a:ln w="12700">
            <a:solidFill>
              <a:srgbClr val="189A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106070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«class»  Prediction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91840" y="1389888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prediction_id : int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91840" y="1609344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dataset_id : int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91840" y="1828800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model_id : int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91840" y="2048256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result : string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91840" y="2267712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prediction_date : datetime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0" y="2523744"/>
            <a:ext cx="2743200" cy="0"/>
          </a:xfrm>
          <a:prstGeom prst="line">
            <a:avLst/>
          </a:prstGeom>
          <a:noFill/>
          <a:ln w="9525">
            <a:solidFill>
              <a:srgbClr val="A8C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2578608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run() : void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91840" y="2798064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getResult() : string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72200" y="1060704"/>
            <a:ext cx="27432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A8C8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1060704"/>
            <a:ext cx="2743200" cy="329184"/>
          </a:xfrm>
          <a:prstGeom prst="rect">
            <a:avLst/>
          </a:prstGeom>
          <a:solidFill>
            <a:srgbClr val="0D7A9E"/>
          </a:solidFill>
          <a:ln w="12700">
            <a:solidFill>
              <a:srgbClr val="0D7A9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106070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«class»  Model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63640" y="1389888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model_id : int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63640" y="1609344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model_name : string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63640" y="1828800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algorithm : string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63640" y="2048256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accuracy : float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63640" y="2267712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created_date : datetime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72200" y="2523744"/>
            <a:ext cx="2743200" cy="0"/>
          </a:xfrm>
          <a:prstGeom prst="line">
            <a:avLst/>
          </a:prstGeom>
          <a:noFill/>
          <a:ln w="9525">
            <a:solidFill>
              <a:srgbClr val="A8C8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2578608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train() : void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63640" y="2798064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evaluate() : void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971800" y="2286000"/>
            <a:ext cx="2286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2880360" y="21031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 N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943600" y="2286000"/>
            <a:ext cx="2286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5833872" y="21031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   1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28600" y="3401568"/>
            <a:ext cx="27432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A8C8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28600" y="3401568"/>
            <a:ext cx="2743200" cy="329184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8600" y="340156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«class»  Report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20040" y="3730752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report_id : int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20040" y="3950208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prediction_id : int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20040" y="4169664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file_path : string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20040" y="4389120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report_type : string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20040" y="4608576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created_date : datetime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28600" y="4864608"/>
            <a:ext cx="2743200" cy="0"/>
          </a:xfrm>
          <a:prstGeom prst="line">
            <a:avLst/>
          </a:prstGeom>
          <a:noFill/>
          <a:ln w="9525">
            <a:solidFill>
              <a:srgbClr val="A8C8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4919472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generate() : void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20040" y="5138928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download() : void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200400" y="3401568"/>
            <a:ext cx="27432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A8C8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200400" y="3401568"/>
            <a:ext cx="2743200" cy="329184"/>
          </a:xfrm>
          <a:prstGeom prst="rect">
            <a:avLst/>
          </a:prstGeom>
          <a:solidFill>
            <a:srgbClr val="00916E"/>
          </a:solidFill>
          <a:ln w="12700">
            <a:solidFill>
              <a:srgbClr val="00916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00400" y="340156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«class»  Visualization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3291840" y="3730752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viz_id : int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291840" y="3950208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prediction_id : int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291840" y="4169664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chart_type : string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291840" y="4389120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map_data : string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291840" y="4608576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created_date : datetime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200400" y="4864608"/>
            <a:ext cx="2743200" cy="0"/>
          </a:xfrm>
          <a:prstGeom prst="line">
            <a:avLst/>
          </a:prstGeom>
          <a:noFill/>
          <a:ln w="9525">
            <a:solidFill>
              <a:srgbClr val="A8C8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91840" y="4919472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generateChart() : void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3291840" y="5138928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generateMap() : void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172200" y="3401568"/>
            <a:ext cx="2743200" cy="1572768"/>
          </a:xfrm>
          <a:prstGeom prst="rect">
            <a:avLst/>
          </a:prstGeom>
          <a:solidFill>
            <a:srgbClr val="F0F7FF"/>
          </a:solidFill>
          <a:ln w="19050">
            <a:solidFill>
              <a:srgbClr val="C8DFF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172200" y="3401568"/>
            <a:ext cx="2743200" cy="329184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172200" y="340156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263640" y="376732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 1 ──── N  Dataset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6263640" y="400507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Dataset  1 ──── N  Prediction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6263640" y="424281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Prediction  N ──── 1  Model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6263640" y="448056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Prediction  1 ──── N  Report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6263640" y="4718304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Prediction  1 ──── N  Visualization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METHODOLOGY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14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594360" cy="128016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04672"/>
            <a:ext cx="594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41832" y="89611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Preparation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41832" y="118872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geospatial data with latitude, longitude, rainfall, temperature, vegetation index and label columns.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804672"/>
            <a:ext cx="4114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804672"/>
            <a:ext cx="594360" cy="128016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804672"/>
            <a:ext cx="594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76672" y="89611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376672" y="118872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null values → select features → normalize → encode categoricals → generate NDVI → train/test split.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221992"/>
            <a:ext cx="4114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221992"/>
            <a:ext cx="594360" cy="128016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221992"/>
            <a:ext cx="594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41832" y="231343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Training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41832" y="260604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trained using Scikit-learn; model saved as geo_model.pkl via joblib.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2221992"/>
            <a:ext cx="4114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221992"/>
            <a:ext cx="594360" cy="128016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221992"/>
            <a:ext cx="594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76672" y="231343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 API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376672" y="260604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endpoints: /register, /login (JWT), /predict (file upload + ML inference), /history, /admin.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639312"/>
            <a:ext cx="4114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639312"/>
            <a:ext cx="594360" cy="128016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639312"/>
            <a:ext cx="594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41832" y="373075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Interface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41832" y="40233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 dashboard with file upload, prediction output panel, Chart.js bar chart and Leaflet.js map view.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3639312"/>
            <a:ext cx="4114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639312"/>
            <a:ext cx="594360" cy="128016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3639312"/>
            <a:ext cx="594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376672" y="373075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Testing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376672" y="40233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→ Backend → Preprocessing → ML Model → Output. Unit, Integration, System &amp; UAT testing performed.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Slide - 16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148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54864" cy="100584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778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152144"/>
            <a:ext cx="39319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function &amp; ML model prediction tested independently for correctness.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804672"/>
            <a:ext cx="41148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04672"/>
            <a:ext cx="54864" cy="100584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8778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18888" y="1152144"/>
            <a:ext cx="39319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Flask API + ML model pipeline tested end-to-end with CSV input.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1901952"/>
            <a:ext cx="41148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1901952"/>
            <a:ext cx="54864" cy="100584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19751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" y="2249424"/>
            <a:ext cx="39319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workflow: Upload file → Preprocess → Predict → Visualize — tested as complete system.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1901952"/>
            <a:ext cx="41148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901952"/>
            <a:ext cx="54864" cy="100584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19751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18888" y="2249424"/>
            <a:ext cx="39319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usability, responsive dashboard and prediction history verified from user perspective.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74320" y="309067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383280"/>
          <a:ext cx="8595360" cy="137160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2148840"/>
                <a:gridCol w="21488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Test ID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Input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Expected Output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TC01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Valid CSV file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Predictions generated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B894"/>
                          </a:solidFill>
                        </a:rPr>
                        <a:t>✓ Pass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TC02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Missing values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Handled properly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B894"/>
                          </a:solidFill>
                        </a:rPr>
                        <a:t>✓ Pass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TC03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Invalid format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Error message shown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B894"/>
                          </a:solidFill>
                        </a:rPr>
                        <a:t>✓ Pass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TC04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Large dataset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Processed successfully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B894"/>
                          </a:solidFill>
                        </a:rPr>
                        <a:t>✓ Pass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Slide - 17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SCREENSHOTS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60520" cy="1719072"/>
          </a:xfrm>
          <a:prstGeom prst="rect">
            <a:avLst/>
          </a:prstGeom>
          <a:solidFill>
            <a:srgbClr val="0A1628"/>
          </a:solidFill>
          <a:ln w="19050">
            <a:solidFill>
              <a:srgbClr val="00AA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4160520" cy="2286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229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LOGIN PAGE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" y="1124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426464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JWT-secured login with username/password and toggle eye visibility. Clean gradient dark UI.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804672"/>
            <a:ext cx="4160520" cy="1719072"/>
          </a:xfrm>
          <a:prstGeom prst="rect">
            <a:avLst/>
          </a:prstGeom>
          <a:solidFill>
            <a:srgbClr val="0A1628"/>
          </a:solidFill>
          <a:ln w="19050">
            <a:solidFill>
              <a:srgbClr val="00AA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804672"/>
            <a:ext cx="4160520" cy="2286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8229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REGISTER PAGE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46320" y="1124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Page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426464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 registration form linked to login. Simple clean card design.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724912"/>
            <a:ext cx="4160520" cy="1719072"/>
          </a:xfrm>
          <a:prstGeom prst="rect">
            <a:avLst/>
          </a:prstGeom>
          <a:solidFill>
            <a:srgbClr val="0A1628"/>
          </a:solidFill>
          <a:ln w="19050">
            <a:solidFill>
              <a:srgbClr val="00AA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724912"/>
            <a:ext cx="4160520" cy="2286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7432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HOME / UPLOAD DATASET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11480" y="30449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/ Upload Dataset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346704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dashboard — CSV file upload panel, Predict / History / Admin / Logout navigation.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2724912"/>
            <a:ext cx="4160520" cy="1719072"/>
          </a:xfrm>
          <a:prstGeom prst="rect">
            <a:avLst/>
          </a:prstGeom>
          <a:solidFill>
            <a:srgbClr val="0A1628"/>
          </a:solidFill>
          <a:ln w="19050">
            <a:solidFill>
              <a:srgbClr val="00AA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724912"/>
            <a:ext cx="4160520" cy="2286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7432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DATA VISUALIZATION &amp; MAP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46320" y="30449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&amp; Map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3346704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output, Chart.js bar chart (Safe vs Risk) and live Leaflet.js geospatial map view.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Slide - 18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850392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C8DF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841248"/>
            <a:ext cx="402336" cy="402336"/>
          </a:xfrm>
          <a:prstGeom prst="ellipse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412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7824" y="859536"/>
            <a:ext cx="7818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developed an end-to-end Geospatial ML System for environmental risk zone prediction using latitude, longitude, rainfall, temperature and vegetation index.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591056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627632"/>
            <a:ext cx="402336" cy="402336"/>
          </a:xfrm>
          <a:prstGeom prst="ellipse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6276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7824" y="1645920"/>
            <a:ext cx="7818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of web-based interface with ML backend enables seamless dataset upload, real-time prediction and interactive chart &amp; map visualization.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377440"/>
            <a:ext cx="850392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C8DF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2414016"/>
            <a:ext cx="402336" cy="402336"/>
          </a:xfrm>
          <a:prstGeom prst="ellipse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4140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77824" y="2432304"/>
            <a:ext cx="7818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RESTful architecture ensures scalability, flexibility and efficient data flow; JWT authentication provides secure multi-user access.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163824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3200400"/>
            <a:ext cx="402336" cy="402336"/>
          </a:xfrm>
          <a:prstGeom prst="ellipse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2004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77824" y="3218688"/>
            <a:ext cx="7818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 cases passed. Model achieves 85% accuracy on the baseline dataset, demonstrating the viability of ML for geospatial analytics.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3950208"/>
            <a:ext cx="850392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C8DF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3986784"/>
            <a:ext cx="402336" cy="402336"/>
          </a:xfrm>
          <a:prstGeom prst="ellipse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9867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77824" y="4005072"/>
            <a:ext cx="7818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establishes a strong foundation for geospatial intelligence systems supporting disaster management, agriculture, environmental monitoring and urban planning.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Slide - 19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27432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2743200" cy="4572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046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Advanced ML Models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307592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deep learning; large-scale real-world datasets with hyperparameter tuning.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804672"/>
            <a:ext cx="27432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804672"/>
            <a:ext cx="2743200" cy="4572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8046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Full GIS Integration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307592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QGIS/ArcGIS support; raster &amp; vector processing; DBSCAN/K-Means spatial clustering.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804672"/>
            <a:ext cx="27432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804672"/>
            <a:ext cx="2743200" cy="4572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8046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Real-Time Data Feeds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1307592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APIs for weather, satellite imagery and IoT environmental sensor streams.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816352"/>
            <a:ext cx="27432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16352"/>
            <a:ext cx="2743200" cy="4572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8163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Explainable AI (XAI)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319272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feature importance; model interpretability dashboards for transparent decisions.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0" y="2816352"/>
            <a:ext cx="27432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2816352"/>
            <a:ext cx="2743200" cy="4572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28163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Cloud Deployment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91840" y="3319272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with Docker; deploy on AWS/Azure/IBM Cloud for enterprise scalability.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26480" y="2816352"/>
            <a:ext cx="27432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2816352"/>
            <a:ext cx="2743200" cy="4572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28163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Security &amp; Governance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3319272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control; strong hashing; data encryption &amp; privacy compliance.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Slide - 20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Scikit-learn Documentation – https://scikit-learn.org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316736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80744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Flask Documentation – https://flask.palletsprojects.com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892808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956816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Pandas Documentation – https://pandas.pydata.org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468880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532888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Leaflet Documentation – https://leafletjs.com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044952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108960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Chart.js Documentation – https://www.chartjs.org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621024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685032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Kaggle – Datasets and ML Resources – https://www.kaggle.com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4197096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4261104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ISRO – Remote Sensing &amp; GIS – https://www.isro.gov.in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4773168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804672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IIRS – Online Courses on Remote Sensing &amp; GIS – https://www.iirs.gov.in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1316736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380744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Waldo Tobler (1970). A Computer Movie Simulating Urban Growth in the Detroit Region.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1892808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956816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Michael F. Goodchild (2007). Citizens as Sensors: The World of Volunteered Geography.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2468880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532888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Geospatial ML literature – Research journals &amp; conference papers on spatial data analysis.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3044952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108960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TensorFlow/Keras Documentation – https://www.tensorflow.org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621024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685032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HTML5 / JavaScript – Web Standards – https://developer.mozilla.org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4197096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Slide - 21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01240"/>
          </a:solidFill>
          <a:ln w="12700">
            <a:solidFill>
              <a:srgbClr val="0012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377440"/>
            <a:ext cx="9144000" cy="73152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Data Analysis Using Machine Learning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SAKSHI SRIVASTAVA  |  EA2432251010614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IV Semester  |  SRM Institute of Science and Technology  |  May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G. Babu  |  Directorate of Online Education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Slide - 22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Geospatial Data Analysis Using Machine Learning</dc:title>
  <dc:subject>PptxGenJS Presentation</dc:subject>
  <dc:creator>PptxGenJS</dc:creator>
  <cp:lastModifiedBy>PptxGenJS</cp:lastModifiedBy>
  <cp:revision>1</cp:revision>
  <dcterms:created xsi:type="dcterms:W3CDTF">2026-05-30T03:24:22Z</dcterms:created>
  <dcterms:modified xsi:type="dcterms:W3CDTF">2026-05-30T03:24:22Z</dcterms:modified>
</cp:coreProperties>
</file>